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463040" cy="109728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5200" b="1" i="0">
                <a:solidFill>
                  <a:srgbClr val="FFFFFF"/>
                </a:solidFill>
              </a:defRPr>
            </a:pPr>
            <a:r>
              <a:t>DOUBLE PDF IOL + JOB</a:t>
            </a:r>
          </a:p>
          <a:p>
            <a:pPr>
              <a:spcAft>
                <a:spcPts val="400"/>
              </a:spcAft>
              <a:defRPr sz="2400" b="0" i="0">
                <a:solidFill>
                  <a:srgbClr val="BBDDEE"/>
                </a:solidFill>
              </a:defRPr>
            </a:pPr>
            <a:r>
              <a:t>Da mappatura PLC/SCADA e specifica JOB a JSON ADAS pronto all'import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0" i="1">
                <a:solidFill>
                  <a:srgbClr val="E8A82E"/>
                </a:solidFill>
              </a:defRPr>
            </a:pPr>
            <a:r>
              <a:t>VLM che legge  ·  Python che calcola e non inventa mai  ·  ogni dubbio in revisione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Menerva MAS  ·  Double PDF IOL+JOB  ·  caso 6 JOB.0139.23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 i="0">
                <a:solidFill>
                  <a:srgbClr val="E8A82E"/>
                </a:solidFill>
              </a:defRPr>
            </a:pPr>
            <a:r>
              <a:t>01 · IL PROBLEMA</a:t>
            </a:r>
          </a:p>
          <a:p>
            <a:pPr>
              <a:spcAft>
                <a:spcPts val="400"/>
              </a:spcAft>
              <a:defRPr sz="3000" b="1" i="0">
                <a:solidFill>
                  <a:srgbClr val="FFFFFF"/>
                </a:solidFill>
              </a:defRPr>
            </a:pPr>
            <a:r>
              <a:t>Due documenti, un solo impianto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Menerva MAS  ·  Double PDF IOL+JOB  ·  caso 6 JOB.0139.23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2/10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383280" cy="4206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/>
          <a:lstStyle/>
          <a:p>
            <a:pPr algn="ctr">
              <a:spcAft>
                <a:spcPts val="400"/>
              </a:spcAft>
              <a:defRPr sz="1700" b="1" i="0">
                <a:solidFill>
                  <a:srgbClr val="142B4D"/>
                </a:solidFill>
              </a:defRPr>
            </a:pPr>
            <a:r>
              <a:t>La coppia IOL + JOB</a:t>
            </a:r>
          </a:p>
          <a:p>
            <a:pPr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Mappatura IOL: tabelle registri PLC/SCADA.</a:t>
            </a:r>
            <a:br/>
            <a:r>
              <a:t>Descrizione JOB: IP, scale, limiti, logiche.</a:t>
            </a:r>
            <a:br/>
            <a:r>
              <a:t>Caso 6: 5 + 9 pagine (JOB.0139.23).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206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/>
          <a:lstStyle/>
          <a:p>
            <a:pPr algn="ctr">
              <a:spcAft>
                <a:spcPts val="400"/>
              </a:spcAft>
              <a:defRPr sz="1700" b="1" i="0">
                <a:solidFill>
                  <a:srgbClr val="142B4D"/>
                </a:solidFill>
              </a:defRPr>
            </a:pPr>
            <a:r>
              <a:t>Upload cieco</a:t>
            </a:r>
          </a:p>
          <a:p>
            <a:pPr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Caricati insieme, in ordine casuale, senza metadati di origine.</a:t>
            </a:r>
            <a:br/>
            <a:r>
              <a:t>La piattaforma non sa quale pagina appartiene a quale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737360"/>
            <a:ext cx="3383280" cy="4206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/>
          <a:lstStyle/>
          <a:p>
            <a:pPr algn="ctr">
              <a:spcAft>
                <a:spcPts val="400"/>
              </a:spcAft>
              <a:defRPr sz="1700" b="1" i="0">
                <a:solidFill>
                  <a:srgbClr val="142B4D"/>
                </a:solidFill>
              </a:defRPr>
            </a:pPr>
            <a:r>
              <a:t>L'obiettivo</a:t>
            </a:r>
          </a:p>
          <a:p>
            <a:pPr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Un solo JSON ADAS importabile, con ogni scelta tracciabile e ogni dubbio in coda di revisione — mai un dato silenzioso.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 i="0">
                <a:solidFill>
                  <a:srgbClr val="E8A82E"/>
                </a:solidFill>
              </a:defRPr>
            </a:pPr>
            <a:r>
              <a:t>02 · L'IDEA</a:t>
            </a:r>
          </a:p>
          <a:p>
            <a:pPr>
              <a:spcAft>
                <a:spcPts val="400"/>
              </a:spcAft>
              <a:defRPr sz="3000" b="1" i="0">
                <a:solidFill>
                  <a:srgbClr val="FFFFFF"/>
                </a:solidFill>
              </a:defRPr>
            </a:pPr>
            <a:r>
              <a:t>Il VLM legge, Python calcola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Menerva MAS  ·  Double PDF IOL+JOB  ·  caso 6 JOB.0139.23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3/10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920240"/>
            <a:ext cx="640080" cy="64008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828800"/>
            <a:ext cx="2743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 i="0">
                <a:solidFill>
                  <a:srgbClr val="142B4D"/>
                </a:solidFill>
              </a:defRPr>
            </a:pPr>
            <a:r>
              <a:t>Classifica e trascrive</a:t>
            </a:r>
          </a:p>
          <a:p>
            <a:pPr>
              <a:spcAft>
                <a:spcPts val="400"/>
              </a:spcAft>
              <a:defRPr sz="1500" b="0" i="0">
                <a:solidFill>
                  <a:srgbClr val="5A6C7D"/>
                </a:solidFill>
              </a:defRPr>
            </a:pPr>
            <a:r>
              <a:t>Il VLM assegna ruolo IOL/JOB e trascrive le tabelle riga per riga.</a:t>
            </a:r>
          </a:p>
        </p:txBody>
      </p:sp>
      <p:sp>
        <p:nvSpPr>
          <p:cNvPr id="8" name="Oval 7"/>
          <p:cNvSpPr/>
          <p:nvPr/>
        </p:nvSpPr>
        <p:spPr>
          <a:xfrm>
            <a:off x="4572000" y="1920240"/>
            <a:ext cx="640080" cy="64008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828800"/>
            <a:ext cx="2743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 i="0">
                <a:solidFill>
                  <a:srgbClr val="142B4D"/>
                </a:solidFill>
              </a:defRPr>
            </a:pPr>
            <a:r>
              <a:t>Filtra e unisce</a:t>
            </a:r>
          </a:p>
          <a:p>
            <a:pPr>
              <a:spcAft>
                <a:spcPts val="400"/>
              </a:spcAft>
              <a:defRPr sz="1500" b="0" i="0">
                <a:solidFill>
                  <a:srgbClr val="5A6C7D"/>
                </a:solidFill>
              </a:defRPr>
            </a:pPr>
            <a:r>
              <a:t>Python deduplica, instrada per etichetta e fa join deterministici.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1920240"/>
            <a:ext cx="640080" cy="640080"/>
          </a:xfrm>
          <a:prstGeom prst="ellipse">
            <a:avLst/>
          </a:prstGeom>
          <a:solidFill>
            <a:srgbClr val="E8A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828800"/>
            <a:ext cx="2743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 i="0">
                <a:solidFill>
                  <a:srgbClr val="142B4D"/>
                </a:solidFill>
              </a:defRPr>
            </a:pPr>
            <a:r>
              <a:t>Verifica, non inventa</a:t>
            </a:r>
          </a:p>
          <a:p>
            <a:pPr>
              <a:spcAft>
                <a:spcPts val="400"/>
              </a:spcAft>
              <a:defRPr sz="1500" b="0" i="0">
                <a:solidFill>
                  <a:srgbClr val="5A6C7D"/>
                </a:solidFill>
              </a:defRPr>
            </a:pPr>
            <a:r>
              <a:t>Placeholder, conflitti e buchi finiscono in review con pagina e regola.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 i="0">
                <a:solidFill>
                  <a:srgbClr val="E8A82E"/>
                </a:solidFill>
              </a:defRPr>
            </a:pPr>
            <a:r>
              <a:t>03 · ARCHITETTURA</a:t>
            </a:r>
          </a:p>
          <a:p>
            <a:pPr>
              <a:spcAft>
                <a:spcPts val="400"/>
              </a:spcAft>
              <a:defRPr sz="3000" b="1" i="0">
                <a:solidFill>
                  <a:srgbClr val="FFFFFF"/>
                </a:solidFill>
              </a:defRPr>
            </a:pPr>
            <a:r>
              <a:t>Un livello smista, tre rami estraggono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Menerva MAS  ·  Double PDF IOL+JOB  ·  caso 6 JOB.0139.23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4/10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2011680" cy="2743200"/>
          </a:xfrm>
          <a:prstGeom prst="roundRect">
            <a:avLst/>
          </a:prstGeom>
          <a:solidFill>
            <a:srgbClr val="1E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 i="0">
                <a:solidFill>
                  <a:srgbClr val="FFFFFF"/>
                </a:solidFill>
              </a:defRPr>
            </a:pPr>
            <a:r>
              <a:t>LV1</a:t>
            </a:r>
            <a:br/>
            <a:r>
              <a:t>SMISTAMENTO</a:t>
            </a:r>
          </a:p>
          <a:p>
            <a:pPr algn="ctr">
              <a:spcAft>
                <a:spcPts val="400"/>
              </a:spcAft>
              <a:defRPr sz="1400" b="0" i="0">
                <a:solidFill>
                  <a:srgbClr val="FFFFFF"/>
                </a:solidFill>
              </a:defRPr>
            </a:pPr>
            <a:r>
              <a:t>PNG → finestre</a:t>
            </a:r>
            <a:br/>
            <a:r>
              <a:t>classifier → dedup</a:t>
            </a:r>
            <a:br/>
            <a:r>
              <a:t>3 filtri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3383280"/>
            <a:ext cx="320040" cy="0"/>
          </a:xfrm>
          <a:prstGeom prst="line">
            <a:avLst/>
          </a:prstGeom>
          <a:ln w="38100">
            <a:solidFill>
              <a:srgbClr val="E8A8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2011680"/>
            <a:ext cx="2011680" cy="2743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 i="0">
                <a:solidFill>
                  <a:srgbClr val="FFFFFF"/>
                </a:solidFill>
              </a:defRPr>
            </a:pPr>
            <a:r>
              <a:t>LV2 STATION</a:t>
            </a:r>
            <a:br/>
            <a:r>
              <a:t>6 pagine</a:t>
            </a:r>
          </a:p>
          <a:p>
            <a:pPr algn="ctr">
              <a:spcAft>
                <a:spcPts val="400"/>
              </a:spcAft>
              <a:defRPr sz="1400" b="0" i="0">
                <a:solidFill>
                  <a:srgbClr val="FFFFFF"/>
                </a:solidFill>
              </a:defRPr>
            </a:pPr>
            <a:r>
              <a:t>IP · porta</a:t>
            </a:r>
            <a:br/>
            <a:r>
              <a:t>scale SO₂/TF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00600" y="3383280"/>
            <a:ext cx="320040" cy="0"/>
          </a:xfrm>
          <a:prstGeom prst="line">
            <a:avLst/>
          </a:prstGeom>
          <a:ln w="38100">
            <a:solidFill>
              <a:srgbClr val="E8A8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2011680"/>
            <a:ext cx="2011680" cy="2743200"/>
          </a:xfrm>
          <a:prstGeom prst="roundRect">
            <a:avLst/>
          </a:prstGeom>
          <a:solidFill>
            <a:srgbClr val="1E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 i="0">
                <a:solidFill>
                  <a:srgbClr val="FFFFFF"/>
                </a:solidFill>
              </a:defRPr>
            </a:pPr>
            <a:r>
              <a:t>LV2 MEASURE</a:t>
            </a:r>
            <a:br/>
            <a:r>
              <a:t>7 pagine</a:t>
            </a:r>
          </a:p>
          <a:p>
            <a:pPr algn="ctr">
              <a:spcAft>
                <a:spcPts val="400"/>
              </a:spcAft>
              <a:defRPr sz="1400" b="0" i="0">
                <a:solidFill>
                  <a:srgbClr val="FFFFFF"/>
                </a:solidFill>
              </a:defRPr>
            </a:pPr>
            <a:r>
              <a:t>3 VLM + tagger</a:t>
            </a:r>
            <a:br/>
            <a:r>
              <a:t>assemblatore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0" y="3383280"/>
            <a:ext cx="320039" cy="0"/>
          </a:xfrm>
          <a:prstGeom prst="line">
            <a:avLst/>
          </a:prstGeom>
          <a:ln w="38100">
            <a:solidFill>
              <a:srgbClr val="E8A8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52359" y="2011680"/>
            <a:ext cx="2011680" cy="2743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 i="0">
                <a:solidFill>
                  <a:srgbClr val="FFFFFF"/>
                </a:solidFill>
              </a:defRPr>
            </a:pPr>
            <a:r>
              <a:t>CONSOLIDATORE</a:t>
            </a:r>
          </a:p>
          <a:p>
            <a:pPr algn="ctr">
              <a:spcAft>
                <a:spcPts val="400"/>
              </a:spcAft>
              <a:defRPr sz="1400" b="0" i="0">
                <a:solidFill>
                  <a:srgbClr val="FFFFFF"/>
                </a:solidFill>
              </a:defRPr>
            </a:pPr>
            <a:r>
              <a:t>1 stazione</a:t>
            </a:r>
            <a:br/>
            <a:r>
              <a:t>69 variabili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64039" y="3383280"/>
            <a:ext cx="320041" cy="0"/>
          </a:xfrm>
          <a:prstGeom prst="line">
            <a:avLst/>
          </a:prstGeom>
          <a:ln w="38100">
            <a:solidFill>
              <a:srgbClr val="E8A8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011680"/>
            <a:ext cx="2011680" cy="2743200"/>
          </a:xfrm>
          <a:prstGeom prst="roundRect">
            <a:avLst/>
          </a:prstGeom>
          <a:solidFill>
            <a:srgbClr val="1E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600" b="1" i="0">
                <a:solidFill>
                  <a:srgbClr val="FFFFFF"/>
                </a:solidFill>
              </a:defRPr>
            </a:pPr>
            <a:r>
              <a:t>JSON CREATOR</a:t>
            </a:r>
          </a:p>
          <a:p>
            <a:pPr algn="ctr">
              <a:spcAft>
                <a:spcPts val="400"/>
              </a:spcAft>
              <a:defRPr sz="1400" b="0" i="0">
                <a:solidFill>
                  <a:srgbClr val="FFFFFF"/>
                </a:solidFill>
              </a:defRPr>
            </a:pPr>
            <a:r>
              <a:t>22 misure</a:t>
            </a:r>
            <a:br/>
            <a:r>
              <a:t>60 bitinfo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 i="0">
                <a:solidFill>
                  <a:srgbClr val="2E86AB"/>
                </a:solidFill>
              </a:defRPr>
            </a:pPr>
            <a:r>
              <a:t>04 · LIVELLO 1</a:t>
            </a:r>
          </a:p>
          <a:p>
            <a:pPr>
              <a:spcAft>
                <a:spcPts val="400"/>
              </a:spcAft>
              <a:defRPr sz="3000" b="1" i="0">
                <a:solidFill>
                  <a:srgbClr val="142B4D"/>
                </a:solidFill>
              </a:defRPr>
            </a:pPr>
            <a:r>
              <a:t>Smistamento nodo per nodo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Menerva MAS  ·  Double PDF IOL+JOB  ·  caso 6 JOB.0139.23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5/10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37360"/>
                <a:gridCol w="6035040"/>
              </a:tblGrid>
              <a:tr h="457200"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Nodo</a:t>
                      </a:r>
                    </a:p>
                  </a:txBody>
                  <a:tcPr anchor="ctr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 anchor="ctr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Cosa fa</a:t>
                      </a:r>
                    </a:p>
                  </a:txBody>
                  <a:tcPr anchor="ctr">
                    <a:solidFill>
                      <a:srgbClr val="142B4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1 CONVERTI PDF IN PNG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Medex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PDF → immagini (nume=5)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2 FINESTRE DI PAGINE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Medex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14 finestre sovrapposte, ogni pagina 2 volte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3 PAGE CLASSIFIER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VLM iterativo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Ruolo IOL/JOB + etichetta per finestra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4 DEDUPLICA + 5 PREPARA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Pytool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14 pagine uniche, array root con review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6 / 7 / 8 FILTRI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Pytool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Partizione 6 Station · 7 Measurement · 1 Density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10 STATION · 9 MEASURE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Iniezioni LV2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Estrazione una pagina alla volta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11 PREPARAZIONE X JSON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Pytool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1 stazione + 69 variabili, review ereditate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12 JSON CREATOR → 13 OUTPUT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Pytool + Naive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ADAS finale: hex, XML, ID rinumerati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 i="0">
                <a:solidFill>
                  <a:srgbClr val="E8A82E"/>
                </a:solidFill>
              </a:defRPr>
            </a:pPr>
            <a:r>
              <a:t>05 · LIVELLO 2</a:t>
            </a:r>
          </a:p>
          <a:p>
            <a:pPr>
              <a:spcAft>
                <a:spcPts val="400"/>
              </a:spcAft>
              <a:defRPr sz="3000" b="1" i="0">
                <a:solidFill>
                  <a:srgbClr val="FFFFFF"/>
                </a:solidFill>
              </a:defRPr>
            </a:pPr>
            <a:r>
              <a:t>Tre sotto-piattaforme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Menerva MAS  ·  Double PDF IOL+JOB  ·  caso 6 JOB.0139.23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6/10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383280" cy="4206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/>
          <a:lstStyle/>
          <a:p>
            <a:pPr algn="ctr">
              <a:spcAft>
                <a:spcPts val="400"/>
              </a:spcAft>
              <a:defRPr sz="1700" b="1" i="0">
                <a:solidFill>
                  <a:srgbClr val="142B4D"/>
                </a:solidFill>
              </a:defRPr>
            </a:pPr>
            <a:r>
              <a:t>◉ Classifier</a:t>
            </a:r>
          </a:p>
          <a:p>
            <a:pPr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Medex + VLM con prompt dedicato.</a:t>
            </a:r>
            <a:br/>
            <a:r>
              <a:t>Il routing usa la label, il ruolo resta metadato.</a:t>
            </a:r>
            <a:br/>
            <a:r>
              <a:t>Mai dedurre il PDF dal prefisso chiave.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206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/>
          <a:lstStyle/>
          <a:p>
            <a:pPr algn="ctr">
              <a:spcAft>
                <a:spcPts val="400"/>
              </a:spcAft>
              <a:defRPr sz="1700" b="1" i="0">
                <a:solidFill>
                  <a:srgbClr val="142B4D"/>
                </a:solidFill>
              </a:defRPr>
            </a:pPr>
            <a:r>
              <a:t>◉ Station (6 pp.)</a:t>
            </a:r>
          </a:p>
          <a:p>
            <a:pPr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Chiave → immagine → VLM v5 (niente SME inventato) → associatore.</a:t>
            </a:r>
            <a:br/>
            <a:r>
              <a:t>Risultato: 10.100.50.95:511, scale SO₂ 0–300 / TF 0–100.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737360"/>
            <a:ext cx="3383280" cy="4206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/>
          <a:lstStyle/>
          <a:p>
            <a:pPr algn="ctr">
              <a:spcAft>
                <a:spcPts val="400"/>
              </a:spcAft>
              <a:defRPr sz="1700" b="1" i="0">
                <a:solidFill>
                  <a:srgbClr val="142B4D"/>
                </a:solidFill>
              </a:defRPr>
            </a:pPr>
            <a:r>
              <a:t>◉ Measurement (7 pp.)</a:t>
            </a:r>
          </a:p>
          <a:p>
            <a:pPr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3 VLM paralleli → 3 tagger (ramo+pagina) → assemblatore.</a:t>
            </a:r>
            <a:br/>
            <a:r>
              <a:t>Join su nome, BIT dal ramo misure, scarti tracciati.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 i="0">
                <a:solidFill>
                  <a:srgbClr val="2E86AB"/>
                </a:solidFill>
              </a:defRPr>
            </a:pPr>
            <a:r>
              <a:t>06 · REGOLE D'ORO</a:t>
            </a:r>
          </a:p>
          <a:p>
            <a:pPr>
              <a:spcAft>
                <a:spcPts val="400"/>
              </a:spcAft>
              <a:defRPr sz="3000" b="1" i="0">
                <a:solidFill>
                  <a:srgbClr val="142B4D"/>
                </a:solidFill>
              </a:defRPr>
            </a:pPr>
            <a:r>
              <a:t>Perché fidarsi dell'output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Menerva MAS  ·  Double PDF IOL+JOB  ·  caso 6 JOB.0139.23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7/10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E8A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 i="0">
                <a:solidFill>
                  <a:srgbClr val="232323"/>
                </a:solidFill>
              </a:defRPr>
            </a:pPr>
            <a:r>
              <a:t>Join su nome, mai su ID  —  Il MEASUREID ha 3 semantiche diverse: usarlo corrompe il join.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587752"/>
            <a:ext cx="502920" cy="50292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42032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 i="0">
                <a:solidFill>
                  <a:srgbClr val="232323"/>
                </a:solidFill>
              </a:defRPr>
            </a:pPr>
            <a:r>
              <a:t>BIT dal ramo misure  —  Verificato 6/6 da coordinate PDF; i disaccordi vanno in review (PM-302A/B).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575304"/>
            <a:ext cx="502920" cy="50292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29584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 i="0">
                <a:solidFill>
                  <a:srgbClr val="232323"/>
                </a:solidFill>
              </a:defRPr>
            </a:pPr>
            <a:r>
              <a:t>Righe bianche = saltate  —  Riserve 420–424 e filler mai inventati (il legacy creava «Comando riservato»).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562856"/>
            <a:ext cx="502920" cy="50292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517136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 i="0">
                <a:solidFill>
                  <a:srgbClr val="232323"/>
                </a:solidFill>
              </a:defRPr>
            </a:pPr>
            <a:r>
              <a:t>TEXTON derivati, non letti  —  Nel PDF non esiste colonna di stato: convenzione valida, dato sintetico.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5550408"/>
            <a:ext cx="502920" cy="50292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504688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 i="0">
                <a:solidFill>
                  <a:srgbClr val="232323"/>
                </a:solidFill>
              </a:defRPr>
            </a:pPr>
            <a:r>
              <a:t>3.6 = plumbing, 3.8 = qualità  —  Confronti solo a parità di modello e classificazione.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 i="0">
                <a:solidFill>
                  <a:srgbClr val="E8A82E"/>
                </a:solidFill>
              </a:defRPr>
            </a:pPr>
            <a:r>
              <a:t>07 · NUMERI DEL CASO 6</a:t>
            </a:r>
          </a:p>
          <a:p>
            <a:pPr>
              <a:spcAft>
                <a:spcPts val="400"/>
              </a:spcAft>
              <a:defRPr sz="3000" b="1" i="0">
                <a:solidFill>
                  <a:srgbClr val="FFFFFF"/>
                </a:solidFill>
              </a:defRPr>
            </a:pPr>
            <a:r>
              <a:t>Run Qwen 3.8, verificata sul 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Menerva MAS  ·  Double PDF IOL+JOB  ·  caso 6 JOB.0139.23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8/10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514600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3400" b="1" i="0">
                <a:solidFill>
                  <a:srgbClr val="142B4D"/>
                </a:solidFill>
              </a:defRPr>
            </a:pPr>
            <a:r>
              <a:t>14</a:t>
            </a:r>
          </a:p>
          <a:p>
            <a:pPr algn="ctr"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pagine uniche</a:t>
            </a:r>
            <a:br/>
            <a:r>
              <a:t>6 + 7 + 1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37360"/>
            <a:ext cx="2514600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3400" b="1" i="0">
                <a:solidFill>
                  <a:srgbClr val="142B4D"/>
                </a:solidFill>
              </a:defRPr>
            </a:pPr>
            <a:r>
              <a:t>69</a:t>
            </a:r>
          </a:p>
          <a:p>
            <a:pPr algn="ctr"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variabili</a:t>
            </a:r>
            <a:br/>
            <a:r>
              <a:t>consolidate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2514600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3400" b="1" i="0">
                <a:solidFill>
                  <a:srgbClr val="142B4D"/>
                </a:solidFill>
              </a:defRPr>
            </a:pPr>
            <a:r>
              <a:t>22 + 60</a:t>
            </a:r>
          </a:p>
          <a:p>
            <a:pPr algn="ctr"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misure + bitinfo</a:t>
            </a:r>
            <a:br/>
            <a:r>
              <a:t>ADAS finale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39" y="1737360"/>
            <a:ext cx="2514600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3400" b="1" i="0">
                <a:solidFill>
                  <a:srgbClr val="142B4D"/>
                </a:solidFill>
              </a:defRPr>
            </a:pPr>
            <a:r>
              <a:t>0</a:t>
            </a:r>
          </a:p>
          <a:p>
            <a:pPr algn="ctr"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default silenziosi</a:t>
            </a:r>
            <a:br/>
            <a:r>
              <a:t>tutto in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0" i="0">
                <a:solidFill>
                  <a:srgbClr val="5A6C7D"/>
                </a:solidFill>
              </a:defRPr>
            </a:pPr>
            <a:r>
              <a:t>Verifiche sul PDF: pagina 2 completa 30/30 · pagina 3 con PM-310A=4 da colonna · pagina 4 pulita · riserve 420–424 saltate · ventilatori REG 6 · Pydantic valido.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 i="0">
                <a:solidFill>
                  <a:srgbClr val="2E86AB"/>
                </a:solidFill>
              </a:defRPr>
            </a:pPr>
            <a:r>
              <a:t>08 · LEGACY VS NUOVO</a:t>
            </a:r>
          </a:p>
          <a:p>
            <a:pPr>
              <a:spcAft>
                <a:spcPts val="400"/>
              </a:spcAft>
              <a:defRPr sz="3000" b="1" i="0">
                <a:solidFill>
                  <a:srgbClr val="142B4D"/>
                </a:solidFill>
              </a:defRPr>
            </a:pPr>
            <a:r>
              <a:t>Dove abbiamo superato il vecchio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Menerva MAS  ·  Double PDF IOL+JOB  ·  caso 6 JOB.0139.23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9/10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480560"/>
              </a:tblGrid>
              <a:tr h="457200"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Aspetto</a:t>
                      </a:r>
                    </a:p>
                  </a:txBody>
                  <a:tcPr anchor="ctr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Legacy</a:t>
                      </a:r>
                    </a:p>
                  </a:txBody>
                  <a:tcPr anchor="ctr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Nuovo (verificato)</a:t>
                      </a:r>
                    </a:p>
                  </a:txBody>
                  <a:tcPr anchor="ctr">
                    <a:solidFill>
                      <a:srgbClr val="142B4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Ruolo documento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Solo categorie pagina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IOL/JOB da evidenze visive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Pagine ripetute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Senza dedup generale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14 uniche su 27, avvisi inclusi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Routing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Rami su stringa (rotti)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3 filtri per label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Merge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6 nodi, ID fragili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1 assemblatore + review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Errori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Default silenziosi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Conflitti in review, mai fusi</a:t>
                      </a:r>
                    </a:p>
                  </a:txBody>
                  <a:tcPr anchor="ctr">
                    <a:solidFill>
                      <a:srgbClr val="ECF2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Righe vuote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Inventate («Comando riservato»)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0">
                          <a:solidFill>
                            <a:srgbClr val="232323"/>
                          </a:solidFill>
                        </a:defRPr>
                      </a:pPr>
                      <a:r>
                        <a:t>Saltate e conteggiate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 i="0">
                <a:solidFill>
                  <a:srgbClr val="E8A82E"/>
                </a:solidFill>
              </a:defRPr>
            </a:pPr>
            <a:r>
              <a:t>09 · GLOSSARIO E PROSSIMI PASSI</a:t>
            </a:r>
          </a:p>
          <a:p>
            <a:pPr>
              <a:spcAft>
                <a:spcPts val="400"/>
              </a:spcAft>
              <a:defRPr sz="3000" b="1" i="0">
                <a:solidFill>
                  <a:srgbClr val="FFFFFF"/>
                </a:solidFill>
              </a:defRPr>
            </a:pPr>
            <a:r>
              <a:t>Parlare la stessa lingua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Menerva MAS  ·  Double PDF IOL+JOB  ·  caso 6 JOB.0139.23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  <a:defRPr sz="1100" b="0" i="0">
                <a:solidFill>
                  <a:srgbClr val="5A6C7D"/>
                </a:solidFill>
              </a:defRPr>
            </a:pPr>
            <a:r>
              <a:t>10/10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03520" cy="4206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/>
          <a:lstStyle/>
          <a:p>
            <a:pPr algn="ctr">
              <a:spcAft>
                <a:spcPts val="400"/>
              </a:spcAft>
              <a:defRPr sz="1700" b="1" i="0">
                <a:solidFill>
                  <a:srgbClr val="142B4D"/>
                </a:solidFill>
              </a:defRPr>
            </a:pPr>
            <a:r>
              <a:t>Mini-glossario</a:t>
            </a:r>
          </a:p>
          <a:p>
            <a:pPr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Edge #N: filo locale al canvas (ricontrollare dopo ogni ricablaggio).</a:t>
            </a:r>
            <a:br/>
            <a:r>
              <a:t>{question}: record pagina dell'iterazione.</a:t>
            </a:r>
            <a:br/>
            <a:r>
              <a:t>Envelope: ramo + pagina + output (ogni dato ha provenienza).</a:t>
            </a:r>
            <a:br/>
            <a:r>
              <a:t>observed_* ≠ ground truth se review_required.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5212080" cy="4206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/>
          <a:lstStyle/>
          <a:p>
            <a:pPr algn="ctr">
              <a:spcAft>
                <a:spcPts val="400"/>
              </a:spcAft>
              <a:defRPr sz="1700" b="1" i="0">
                <a:solidFill>
                  <a:srgbClr val="142B4D"/>
                </a:solidFill>
              </a:defRPr>
            </a:pPr>
            <a:r>
              <a:t>Aperti</a:t>
            </a:r>
          </a:p>
          <a:p>
            <a:pPr>
              <a:spcAft>
                <a:spcPts val="400"/>
              </a:spcAft>
              <a:defRPr sz="1400" b="0" i="0">
                <a:solidFill>
                  <a:srgbClr val="5A6C7D"/>
                </a:solidFill>
              </a:defRPr>
            </a:pPr>
            <a:r>
              <a:t>Scala TF non collegata · limiti JOB · TEXTON parziali REG 3.</a:t>
            </a:r>
            <a:br/>
            <a:r>
              <a:t>Decisioni cliente: zeri iniziali, BISON, regola V2.</a:t>
            </a:r>
            <a:br/>
            <a:r>
              <a:t>Prossimo: caso 7 e terza coppia mai vista.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