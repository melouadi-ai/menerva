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ntesto" id="{bce00e60-7ca2-8965-98b2-3b8d581b3a5c}">
          <p14:sldIdLst>
            <p14:sldId id="256"/>
            <p14:sldId id="257"/>
            <p14:sldId id="258"/>
          </p14:sldIdLst>
        </p14:section>
        <p14:section name="Architettura" id="{cba7ed47-4b7d-f6ff-9670-be95ee84ce72}">
          <p14:sldIdLst>
            <p14:sldId id="259"/>
            <p14:sldId id="260"/>
            <p14:sldId id="261"/>
            <p14:sldId id="262"/>
          </p14:sldIdLst>
        </p14:section>
        <p14:section name="Risultati" id="{f7dc5a87-7a44-3e20-0edb-2aa581273930}">
          <p14:sldIdLst>
            <p14:sldId id="263"/>
            <p14:sldId id="264"/>
            <p14:sldId id="265"/>
            <p14:sldId id="266"/>
          </p14:sldIdLst>
        </p14:section>
        <p14:section name="Chiusura" id="{386318fa-0dea-81cb-7421-6e1ddf8492bf}">
          <p14:sldIdLst>
            <p14:sldId id="267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n-lt"/>
              </a:rPr>
              <a:t>Le 22 misure ADAS per tipo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Misure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3222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Gruppi packed</c:v>
                  </c:pt>
                  <c:pt idx="1">
                    <c:v>Analogiche</c:v>
                  </c:pt>
                  <c:pt idx="2">
                    <c:v>Singoli CMD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9</c:v>
                </c:pt>
                <c:pt idx="2">
                  <c:v>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3222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3222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"/>
          <c:min val="0"/>
        </c:scaling>
        <c:delete val="0"/>
        <c:axPos val="l"/>
        <c:majorGridlines>
          <c:spPr>
            <a:ln w="6350" cap="flat">
              <a:solidFill>
                <a:srgbClr val="D5E2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F5D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n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n-lt"/>
              </a:rPr>
              <a:t>39 misure ADAS per tipo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Misure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F5D6B"/>
              </a:solidFill>
              <a:effectLst/>
            </c:spPr>
          </c:dPt>
          <c:dPt>
            <c:idx val="1"/>
            <c:bubble3D val="0"/>
            <c:spPr>
              <a:solidFill>
                <a:srgbClr val="0E7C7B"/>
              </a:solidFill>
              <a:effectLst/>
            </c:spPr>
          </c:dPt>
          <c:dPt>
            <c:idx val="2"/>
            <c:bubble3D val="0"/>
            <c:spPr>
              <a:solidFill>
                <a:srgbClr val="C0503A"/>
              </a:solidFill>
              <a:effectLst/>
            </c:spPr>
          </c:dPt>
          <c:dPt>
            <c:idx val="3"/>
            <c:bubble3D val="0"/>
            <c:spPr>
              <a:solidFill>
                <a:srgbClr val="4E8F5B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numFmt formatCode="General" sourceLinked="0"/>
              <c:spPr/>
              <c:txPr>
                <a:bodyPr/>
                <a:lstStyle/>
                <a:p>
                  <a:pPr>
                    <a:defRPr sz="1400" b="0" i="0" u="none" strike="noStrike">
                      <a:solidFill>
                        <a:srgbClr val="FFFFF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Packed</c:v>
                </c:pt>
                <c:pt idx="1">
                  <c:v>Analogiche INT</c:v>
                </c:pt>
                <c:pt idx="2">
                  <c:v>Singoli</c:v>
                </c:pt>
                <c:pt idx="3">
                  <c:v>Stimate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</c:v>
                </c:pt>
                <c:pt idx="1">
                  <c:v>18</c:v>
                </c:pt>
                <c:pt idx="2">
                  <c:v>9</c:v>
                </c:pt>
                <c:pt idx="3">
                  <c:v>8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400">
              <a:solidFill>
                <a:srgbClr val="13222C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Messaggio centrale: il VLM legge e trascrive, Python calcola in modo deterministico, ogni dubbio finisce in una coda di revisione. Stato aggiornato al 5 ottobre 2026, casi di riferimento 6 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impianto SME/SAE si configura con due documenti: mappatura IOL (registri PLC/SCADA) e descrizione JOB (specifica). I due PDF arrivano insieme, mescolati.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pilastri: il VLM trascrive e classifica, Python fa tutti i calcoli, e ogni incertezza viene resa visibile in code di revisione.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Livello 1 gira una volta: converte, classifica, deduplica e filtra le pagine. Il Livello 2 estrae pagina per pagina in tre rami. Il consolidatore unisce i rami in una stazione con 69 variabili; il JSON Creator produce 22 misure e 60 bitinfo 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Medex è la piattaforma di conversione, il VLM legge, Pytool esegue il codice Python deterministico. Nel caso 6: 14 finestre sovrapposte, 14 pagine uniche, 6 Station, 7 Measurement, 1 Density.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Classifier smista per label. Station estrae IP, porta e scale con prompt v5. Measurement usa tre VLM paralleli, tre tagger che aggiungono ramo e pagina e un assemblatore che fa il join sul nome.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regole d’oro spiegano perché ci si può fidare: join sul nome, BIT dal ramo misure, righe bianche saltate, TEXTON/TEXTOFF dichiarati sintetici, modello leggero solo per il plumbing.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Confronto riga per riga col PDF, run Qwen 3.8. 65 misure col modello leggero contro 69 con Qwen 3.8. ADAS finale: 22 misure (5 gruppi packed sui registri 1/3/4/5/6, 9 analogiche, 8 singoli CMD in scrittura) più 60 bitinfo.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Seconda coppia mai vista in progettazione. 39 misure (4 packed, 18 analogiche INT, 9 singoli, 8 stimate) e 42 bitinfo. Le cinque variabili perse sono dichiarate con warning: il gap è noto e visibile.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Confronto onesto con il sistema legacy: dove siamo sopra (righe fantasma, BIT da colonna, niente default silenziosi), dove siamo pari, e cosa va dichiarato al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 decisioni che non dipendono da noi: zeri iniziali degli indirizzi, specifiche BISON per la linearizzazione, regola sui nomi prefissati.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Prossimo: una terza coppia mai vista per provare la generalizzazione, poi collaudo e cliente.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di appoggio: termini usati nel canvas e nelle fixture.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62179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383280"/>
            <a:ext cx="60350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Double PDF IOL+JOB · stato al 5 ottobre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ONLY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Double PDF IOL+JOB · stato al 5 ottobre 2026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2588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PRESENTAZIONE TECNICA · CASI 6 E 7</a:t>
            </a:r>
            <a:endParaRPr lang="en-US" sz="14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731520" y="1828800"/>
            <a:ext cx="6217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Double PDF IOL+JOB</a:t>
            </a:r>
            <a:endParaRPr lang="en-US" sz="4800" dirty="0"/>
          </a:p>
        </p:txBody>
      </p:sp>
      <p:sp>
        <p:nvSpPr>
          <p:cNvPr id="4" name="Text 1"/>
          <p:cNvSpPr/>
          <p:nvPr>
            <p:ph idx="102" type="body" hasCustomPrompt="1"/>
          </p:nvPr>
        </p:nvSpPr>
        <p:spPr>
          <a:xfrm>
            <a:off x="731520" y="338328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Da mappatura PLC/SCADA e specifica JOB a JSON ADAS pronto all’import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7548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chemeClr val="bg1"/>
                </a:solidFill>
              </a:rPr>
              <a:t>Un VLM legge, Python calcola e non inventa mai, ogni dubbio finisce in revisione.</a:t>
            </a:r>
            <a:endParaRPr lang="en-US" sz="1800" dirty="0"/>
          </a:p>
        </p:txBody>
      </p:sp>
      <p:sp>
        <p:nvSpPr>
          <p:cNvPr id="6" name="Scheda flusso 1"/>
          <p:cNvSpPr txBox="1"/>
          <p:nvPr/>
        </p:nvSpPr>
        <p:spPr>
          <a:xfrm>
            <a:off x="7406640" y="1490472"/>
            <a:ext cx="4233672" cy="1051560"/>
          </a:xfrm>
          <a:prstGeom prst="roundRect">
            <a:avLst>
              <a:gd name="adj" fmla="val 10435"/>
            </a:avLst>
          </a:prstGeom>
          <a:solidFill>
            <a:schemeClr val="accent3"/>
          </a:solidFill>
          <a:ln/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PDF IOL + PDF JOB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mappatura e specifica in ordine casuale</a:t>
            </a:r>
            <a:endParaRPr lang="en-US" sz="2000" dirty="0"/>
          </a:p>
        </p:txBody>
      </p:sp>
      <p:sp>
        <p:nvSpPr>
          <p:cNvPr id="7" name="Freccia flusso 1"/>
          <p:cNvSpPr/>
          <p:nvPr/>
        </p:nvSpPr>
        <p:spPr>
          <a:xfrm>
            <a:off x="9523476" y="2542032"/>
            <a:ext cx="0" cy="36576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Scheda flusso 2"/>
          <p:cNvSpPr txBox="1"/>
          <p:nvPr/>
        </p:nvSpPr>
        <p:spPr>
          <a:xfrm>
            <a:off x="7406640" y="2907792"/>
            <a:ext cx="4233672" cy="1051560"/>
          </a:xfrm>
          <a:prstGeom prst="roundRect">
            <a:avLst>
              <a:gd name="adj" fmla="val 10435"/>
            </a:avLst>
          </a:prstGeom>
          <a:solidFill>
            <a:schemeClr val="accent1"/>
          </a:solidFill>
          <a:ln/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VLM legge · Python calcola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ogni dubbio in coda di revisione</a:t>
            </a:r>
            <a:endParaRPr lang="en-US" sz="2000" dirty="0"/>
          </a:p>
        </p:txBody>
      </p:sp>
      <p:sp>
        <p:nvSpPr>
          <p:cNvPr id="9" name="Freccia flusso 2"/>
          <p:cNvSpPr/>
          <p:nvPr/>
        </p:nvSpPr>
        <p:spPr>
          <a:xfrm>
            <a:off x="9523476" y="3959352"/>
            <a:ext cx="0" cy="365760"/>
          </a:xfrm>
          <a:prstGeom prst="line">
            <a:avLst/>
          </a:prstGeom>
          <a:noFill/>
          <a:ln w="28575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0" name="Scheda flusso 3"/>
          <p:cNvSpPr txBox="1"/>
          <p:nvPr/>
        </p:nvSpPr>
        <p:spPr>
          <a:xfrm>
            <a:off x="7406640" y="4325112"/>
            <a:ext cx="4233672" cy="1051560"/>
          </a:xfrm>
          <a:prstGeom prst="roundRect">
            <a:avLst>
              <a:gd name="adj" fmla="val 10435"/>
            </a:avLst>
          </a:prstGeom>
          <a:solidFill>
            <a:schemeClr val="accent2"/>
          </a:solidFill>
          <a:ln/>
        </p:spPr>
        <p:txBody>
          <a:bodyPr wrap="square" lIns="228600" tIns="228600" rIns="228600" bIns="22860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JSON ADAS</a:t>
            </a:r>
            <a:endParaRPr lang="en-US" sz="20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pronto all’import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Due PDF, nessuna etichetta</a:t>
            </a:r>
            <a:endParaRPr lang="en-US" sz="3400" dirty="0"/>
          </a:p>
        </p:txBody>
      </p:sp>
      <p:sp>
        <p:nvSpPr>
          <p:cNvPr id="3" name="Scheda Mappatura IOL"/>
          <p:cNvSpPr/>
          <p:nvPr/>
        </p:nvSpPr>
        <p:spPr>
          <a:xfrm>
            <a:off x="548640" y="1463040"/>
            <a:ext cx="3566160" cy="2971800"/>
          </a:xfrm>
          <a:prstGeom prst="roundRect">
            <a:avLst>
              <a:gd name="adj" fmla="val 3692"/>
            </a:avLst>
          </a:prstGeom>
          <a:solidFill>
            <a:srgbClr val="EAF2F1"/>
          </a:solidFill>
          <a:ln/>
        </p:spPr>
      </p:sp>
      <p:sp>
        <p:nvSpPr>
          <p:cNvPr id="4" name="Icona Mappatura IOL"/>
          <p:cNvSpPr/>
          <p:nvPr/>
        </p:nvSpPr>
        <p:spPr>
          <a:xfrm>
            <a:off x="822960" y="16916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Icona Mappatura I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2182" y="1870862"/>
            <a:ext cx="281635" cy="28163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Mappatura IOL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Tabelle di registri PLC/SCADA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26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Indirizzi, TAG e descrizioni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REG e BIT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TIPO del dato</a:t>
            </a:r>
            <a:endParaRPr lang="en-US" sz="1400" dirty="0"/>
          </a:p>
        </p:txBody>
      </p:sp>
      <p:sp>
        <p:nvSpPr>
          <p:cNvPr id="9" name="Scheda Descrizione JOB"/>
          <p:cNvSpPr/>
          <p:nvPr/>
        </p:nvSpPr>
        <p:spPr>
          <a:xfrm>
            <a:off x="4389120" y="1463040"/>
            <a:ext cx="3566160" cy="2971800"/>
          </a:xfrm>
          <a:prstGeom prst="roundRect">
            <a:avLst>
              <a:gd name="adj" fmla="val 3692"/>
            </a:avLst>
          </a:prstGeom>
          <a:solidFill>
            <a:srgbClr val="EAF2F1"/>
          </a:solidFill>
          <a:ln/>
        </p:spPr>
      </p:sp>
      <p:sp>
        <p:nvSpPr>
          <p:cNvPr id="10" name="Icona Descrizione JOB"/>
          <p:cNvSpPr/>
          <p:nvPr/>
        </p:nvSpPr>
        <p:spPr>
          <a:xfrm>
            <a:off x="4663440" y="1691640"/>
            <a:ext cx="640080" cy="6400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Icona Descrizione JO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2662" y="187086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86400" y="169164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Descrizione JOB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4663440" y="25146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Specifica dell’impianto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663440" y="29260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Indirizzi IP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Campi scala e limiti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Logiche di validazione</a:t>
            </a:r>
            <a:endParaRPr lang="en-US" sz="14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Formule</a:t>
            </a:r>
            <a:endParaRPr lang="en-US" sz="1400" dirty="0"/>
          </a:p>
        </p:txBody>
      </p:sp>
      <p:sp>
        <p:nvSpPr>
          <p:cNvPr id="15" name="Callout problema"/>
          <p:cNvSpPr txBox="1"/>
          <p:nvPr/>
        </p:nvSpPr>
        <p:spPr>
          <a:xfrm>
            <a:off x="8229600" y="1463040"/>
            <a:ext cx="3410712" cy="2971800"/>
          </a:xfrm>
          <a:prstGeom prst="roundRect">
            <a:avLst>
              <a:gd name="adj" fmla="val 3692"/>
            </a:avLst>
          </a:prstGeom>
          <a:solidFill>
            <a:schemeClr val="tx2"/>
          </a:solidFill>
          <a:ln/>
        </p:spPr>
        <p:txBody>
          <a:bodyPr wrap="square" lIns="279400" tIns="279400" rIns="279400" bIns="279400" rtlCol="0" anchor="ctr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2200" b="1" dirty="0">
                <a:solidFill>
                  <a:schemeClr val="bg1"/>
                </a:solidFill>
              </a:rPr>
              <a:t>Caricati insieme</a:t>
            </a:r>
            <a:endParaRPr lang="en-US" sz="22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In ordine casuale e senza metadati di origine: la piattaforma non sa quale pagina appartiene a quale documento.</a:t>
            </a:r>
            <a:endParaRPr lang="en-US" sz="2200" dirty="0"/>
          </a:p>
        </p:txBody>
      </p:sp>
      <p:sp>
        <p:nvSpPr>
          <p:cNvPr id="16" name="Scheda CASO 6"/>
          <p:cNvSpPr/>
          <p:nvPr/>
        </p:nvSpPr>
        <p:spPr>
          <a:xfrm>
            <a:off x="548640" y="475488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EAF2F1"/>
          </a:solidFill>
          <a:ln/>
        </p:spPr>
      </p:sp>
      <p:sp>
        <p:nvSpPr>
          <p:cNvPr id="17" name="Numero CASO 6"/>
          <p:cNvSpPr txBox="1"/>
          <p:nvPr/>
        </p:nvSpPr>
        <p:spPr>
          <a:xfrm>
            <a:off x="822960" y="5074920"/>
            <a:ext cx="548640" cy="54864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6</a:t>
            </a:r>
            <a:endParaRPr lang="en-US" sz="2200" dirty="0"/>
          </a:p>
        </p:txBody>
      </p:sp>
      <p:sp>
        <p:nvSpPr>
          <p:cNvPr id="18" name="Text 14"/>
          <p:cNvSpPr txBox="1"/>
          <p:nvPr/>
        </p:nvSpPr>
        <p:spPr>
          <a:xfrm>
            <a:off x="1600200" y="47548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CASO 6 · COPPIA DI RIFERIMENTO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JOB.0139.23 · impianto SO2 · 5+9 pagine</a:t>
            </a:r>
            <a:endParaRPr lang="en-US" sz="1200" dirty="0"/>
          </a:p>
        </p:txBody>
      </p:sp>
      <p:sp>
        <p:nvSpPr>
          <p:cNvPr id="19" name="Scheda CASO 7"/>
          <p:cNvSpPr/>
          <p:nvPr/>
        </p:nvSpPr>
        <p:spPr>
          <a:xfrm>
            <a:off x="6245352" y="4754880"/>
            <a:ext cx="5394960" cy="1188720"/>
          </a:xfrm>
          <a:prstGeom prst="roundRect">
            <a:avLst>
              <a:gd name="adj" fmla="val 9231"/>
            </a:avLst>
          </a:prstGeom>
          <a:solidFill>
            <a:srgbClr val="EAF2F1"/>
          </a:solidFill>
          <a:ln/>
        </p:spPr>
      </p:sp>
      <p:sp>
        <p:nvSpPr>
          <p:cNvPr id="20" name="Numero CASO 7"/>
          <p:cNvSpPr txBox="1"/>
          <p:nvPr/>
        </p:nvSpPr>
        <p:spPr>
          <a:xfrm>
            <a:off x="6519672" y="5074920"/>
            <a:ext cx="548640" cy="54864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7</a:t>
            </a:r>
            <a:endParaRPr lang="en-US" sz="2200" dirty="0"/>
          </a:p>
        </p:txBody>
      </p:sp>
      <p:sp>
        <p:nvSpPr>
          <p:cNvPr id="21" name="Text 17"/>
          <p:cNvSpPr txBox="1"/>
          <p:nvPr/>
        </p:nvSpPr>
        <p:spPr>
          <a:xfrm>
            <a:off x="7296912" y="4754880"/>
            <a:ext cx="4160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CASO 7 · COPPIA DI RIFERIMENTO</a:t>
            </a:r>
            <a:endParaRPr lang="en-US" sz="12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JOB.0105.22 · cogenerazione Biogen · 4+7 pagine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L’idea in tre pilastri</a:t>
            </a:r>
            <a:endParaRPr lang="en-US" sz="3400" dirty="0"/>
          </a:p>
        </p:txBody>
      </p:sp>
      <p:sp>
        <p:nvSpPr>
          <p:cNvPr id="3" name="Scheda pilastro 1"/>
          <p:cNvSpPr/>
          <p:nvPr/>
        </p:nvSpPr>
        <p:spPr>
          <a:xfrm>
            <a:off x="548640" y="14630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4" name="Icona pilastro 1"/>
          <p:cNvSpPr/>
          <p:nvPr/>
        </p:nvSpPr>
        <p:spPr>
          <a:xfrm>
            <a:off x="868680" y="1783080"/>
            <a:ext cx="868680" cy="868680"/>
          </a:xfrm>
          <a:prstGeom prst="ellipse">
            <a:avLst/>
          </a:prstGeom>
          <a:solidFill>
            <a:srgbClr val="E8A317"/>
          </a:solidFill>
          <a:ln/>
        </p:spPr>
      </p:sp>
      <p:pic>
        <p:nvPicPr>
          <p:cNvPr id="5" name="Image 0" descr="Icona pilastro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2026310"/>
            <a:ext cx="382219" cy="38221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1 · Il VLM legge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38404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Classifica ogni pagina (ruolo IOL/JOB ed etichetta) e trascrive le tabelle riga per riga. Non calcola nulla.</a:t>
            </a:r>
            <a:endParaRPr lang="en-US" sz="1600" dirty="0"/>
          </a:p>
        </p:txBody>
      </p:sp>
      <p:sp>
        <p:nvSpPr>
          <p:cNvPr id="8" name="Scheda pilastro 2"/>
          <p:cNvSpPr/>
          <p:nvPr/>
        </p:nvSpPr>
        <p:spPr>
          <a:xfrm>
            <a:off x="4315968" y="14630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9" name="Icona pilastro 2"/>
          <p:cNvSpPr/>
          <p:nvPr/>
        </p:nvSpPr>
        <p:spPr>
          <a:xfrm>
            <a:off x="4636008" y="1783080"/>
            <a:ext cx="868680" cy="86868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0" name="Image 1" descr="Icona pilastro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9238" y="202631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636008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2 · Python calcola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4636008" y="38404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Filtra, deduplica, unisce con join deterministici e calcola ogni campo derivato: DRIVERPRIVATE hex, DRIVERCONFIG XML, ID sequenziali.</a:t>
            </a:r>
            <a:endParaRPr lang="en-US" sz="1600" dirty="0"/>
          </a:p>
        </p:txBody>
      </p:sp>
      <p:sp>
        <p:nvSpPr>
          <p:cNvPr id="13" name="Scheda pilastro 3"/>
          <p:cNvSpPr/>
          <p:nvPr/>
        </p:nvSpPr>
        <p:spPr>
          <a:xfrm>
            <a:off x="8083296" y="14630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14" name="Icona pilastro 3"/>
          <p:cNvSpPr/>
          <p:nvPr/>
        </p:nvSpPr>
        <p:spPr>
          <a:xfrm>
            <a:off x="8403336" y="1783080"/>
            <a:ext cx="868680" cy="868680"/>
          </a:xfrm>
          <a:prstGeom prst="ellipse">
            <a:avLst/>
          </a:prstGeom>
          <a:solidFill>
            <a:srgbClr val="C0503A"/>
          </a:solidFill>
          <a:ln/>
        </p:spPr>
      </p:sp>
      <p:pic>
        <p:nvPicPr>
          <p:cNvPr id="15" name="Image 2" descr="Icona pilastro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6566" y="2026310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403336" y="292608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3 · I dubbi vanno in revisione</a:t>
            </a:r>
            <a:endParaRPr lang="en-US" sz="2200" dirty="0"/>
          </a:p>
        </p:txBody>
      </p:sp>
      <p:sp>
        <p:nvSpPr>
          <p:cNvPr id="17" name="Text 12"/>
          <p:cNvSpPr txBox="1"/>
          <p:nvPr/>
        </p:nvSpPr>
        <p:spPr>
          <a:xfrm>
            <a:off x="8403336" y="384048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Placeholder, conflitti tra rami e buchi di copertura finiscono in code di revisione esplicite, mai nei dati in silenzio.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Un livello smista, tre rami estraggono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LIVELLO 1 · UNA SOLA ESECUZIONE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3383280" y="1371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LIVELLO 2 · UNA PAGINA ALLA VOLTA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685800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CONSOLIDAMENTO</a:t>
            </a:r>
            <a:endParaRPr lang="en-US" sz="1200" dirty="0"/>
          </a:p>
        </p:txBody>
      </p:sp>
      <p:sp>
        <p:nvSpPr>
          <p:cNvPr id="6" name="Blocco Livello 1"/>
          <p:cNvSpPr txBox="1"/>
          <p:nvPr/>
        </p:nvSpPr>
        <p:spPr>
          <a:xfrm>
            <a:off x="548640" y="1737360"/>
            <a:ext cx="2377440" cy="4206240"/>
          </a:xfrm>
          <a:prstGeom prst="roundRect">
            <a:avLst>
              <a:gd name="adj" fmla="val 4615"/>
            </a:avLst>
          </a:prstGeom>
          <a:solidFill>
            <a:schemeClr val="accent3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Smista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PDF → PNG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Finestre di pagina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Page Classifier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Deduplica e filtri</a:t>
            </a:r>
            <a:endParaRPr lang="en-US" sz="1800" dirty="0"/>
          </a:p>
        </p:txBody>
      </p:sp>
      <p:sp>
        <p:nvSpPr>
          <p:cNvPr id="7" name="Ramo Station Information"/>
          <p:cNvSpPr txBox="1"/>
          <p:nvPr/>
        </p:nvSpPr>
        <p:spPr>
          <a:xfrm>
            <a:off x="3383280" y="1737360"/>
            <a:ext cx="301752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Station Information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 pagine · IP, porta, scale</a:t>
            </a:r>
            <a:endParaRPr lang="en-US" sz="1800" dirty="0"/>
          </a:p>
        </p:txBody>
      </p:sp>
      <p:sp>
        <p:nvSpPr>
          <p:cNvPr id="8" name="Freccia L1 ramo 1"/>
          <p:cNvSpPr/>
          <p:nvPr/>
        </p:nvSpPr>
        <p:spPr>
          <a:xfrm>
            <a:off x="2926080" y="2377440"/>
            <a:ext cx="4572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9" name="Freccia ramo consolida 1"/>
          <p:cNvSpPr/>
          <p:nvPr/>
        </p:nvSpPr>
        <p:spPr>
          <a:xfrm>
            <a:off x="6400800" y="2377440"/>
            <a:ext cx="4572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0" name="Ramo Measurement Data"/>
          <p:cNvSpPr txBox="1"/>
          <p:nvPr/>
        </p:nvSpPr>
        <p:spPr>
          <a:xfrm>
            <a:off x="3383280" y="3200400"/>
            <a:ext cx="301752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Measurement Data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7 pagine · 3 VLM in parallelo</a:t>
            </a:r>
            <a:endParaRPr lang="en-US" sz="1800" dirty="0"/>
          </a:p>
        </p:txBody>
      </p:sp>
      <p:sp>
        <p:nvSpPr>
          <p:cNvPr id="11" name="Freccia L1 ramo 2"/>
          <p:cNvSpPr/>
          <p:nvPr/>
        </p:nvSpPr>
        <p:spPr>
          <a:xfrm>
            <a:off x="2926080" y="3840480"/>
            <a:ext cx="4572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2" name="Freccia ramo consolida 2"/>
          <p:cNvSpPr/>
          <p:nvPr/>
        </p:nvSpPr>
        <p:spPr>
          <a:xfrm>
            <a:off x="6400800" y="3840480"/>
            <a:ext cx="4572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3" name="Ramo Density"/>
          <p:cNvSpPr txBox="1"/>
          <p:nvPr/>
        </p:nvSpPr>
        <p:spPr>
          <a:xfrm>
            <a:off x="3383280" y="4663440"/>
            <a:ext cx="3017520" cy="1280160"/>
          </a:xfrm>
          <a:prstGeom prst="roundRect">
            <a:avLst>
              <a:gd name="adj" fmla="val 8571"/>
            </a:avLst>
          </a:prstGeom>
          <a:solidFill>
            <a:schemeClr val="accent1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Density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1 pagina · forwarding</a:t>
            </a:r>
            <a:endParaRPr lang="en-US" sz="1800" dirty="0"/>
          </a:p>
        </p:txBody>
      </p:sp>
      <p:sp>
        <p:nvSpPr>
          <p:cNvPr id="14" name="Freccia L1 ramo 3"/>
          <p:cNvSpPr/>
          <p:nvPr/>
        </p:nvSpPr>
        <p:spPr>
          <a:xfrm>
            <a:off x="2926080" y="5303520"/>
            <a:ext cx="4572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5" name="Freccia ramo consolida 3"/>
          <p:cNvSpPr/>
          <p:nvPr/>
        </p:nvSpPr>
        <p:spPr>
          <a:xfrm>
            <a:off x="6400800" y="5303520"/>
            <a:ext cx="4572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6" name="Blocco Preparazione X JSON"/>
          <p:cNvSpPr txBox="1"/>
          <p:nvPr/>
        </p:nvSpPr>
        <p:spPr>
          <a:xfrm>
            <a:off x="6858000" y="1737360"/>
            <a:ext cx="1920240" cy="420624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PREPARAZIONE X JSON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3 rami → 1 stazione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69 variabili</a:t>
            </a:r>
            <a:endParaRPr lang="en-US" sz="1800" dirty="0"/>
          </a:p>
        </p:txBody>
      </p:sp>
      <p:sp>
        <p:nvSpPr>
          <p:cNvPr id="17" name="Freccia consolida JSON"/>
          <p:cNvSpPr/>
          <p:nvPr/>
        </p:nvSpPr>
        <p:spPr>
          <a:xfrm>
            <a:off x="8778240" y="3840480"/>
            <a:ext cx="457200" cy="0"/>
          </a:xfrm>
          <a:prstGeom prst="line">
            <a:avLst/>
          </a:prstGeom>
          <a:noFill/>
          <a:ln w="28575">
            <a:solidFill>
              <a:schemeClr val="accent3"/>
            </a:solidFill>
            <a:prstDash val="solid"/>
            <a:tailEnd type="triangle"/>
          </a:ln>
        </p:spPr>
      </p:sp>
      <p:sp>
        <p:nvSpPr>
          <p:cNvPr id="18" name="Blocco JSON Creator"/>
          <p:cNvSpPr txBox="1"/>
          <p:nvPr/>
        </p:nvSpPr>
        <p:spPr>
          <a:xfrm>
            <a:off x="9235440" y="1737360"/>
            <a:ext cx="2404872" cy="4206240"/>
          </a:xfrm>
          <a:prstGeom prst="roundRect">
            <a:avLst>
              <a:gd name="adj" fmla="val 4563"/>
            </a:avLst>
          </a:prstGeom>
          <a:solidFill>
            <a:schemeClr val="accent2"/>
          </a:solidFill>
          <a:ln/>
        </p:spPr>
        <p:txBody>
          <a:bodyPr wrap="square" lIns="177800" tIns="177800" rIns="177800" bIns="1778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JSON CREATOR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22 misure + 60 bitinfo ADAS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Validazione Pydantic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→ Output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Livello 1, nodo per nodo</a:t>
            </a:r>
            <a:endParaRPr lang="en-US" sz="3400" dirty="0"/>
          </a:p>
        </p:txBody>
      </p:sp>
      <p:sp>
        <p:nvSpPr>
          <p:cNvPr id="3" name="Scheda nodo 1"/>
          <p:cNvSpPr/>
          <p:nvPr/>
        </p:nvSpPr>
        <p:spPr>
          <a:xfrm>
            <a:off x="548640" y="146304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EAF2F1"/>
          </a:solidFill>
          <a:ln/>
        </p:spPr>
      </p:sp>
      <p:sp>
        <p:nvSpPr>
          <p:cNvPr id="4" name="Numero nodo 1"/>
          <p:cNvSpPr txBox="1"/>
          <p:nvPr/>
        </p:nvSpPr>
        <p:spPr>
          <a:xfrm>
            <a:off x="777240" y="1691640"/>
            <a:ext cx="457200" cy="457200"/>
          </a:xfrm>
          <a:prstGeom prst="ellipse">
            <a:avLst/>
          </a:prstGeom>
          <a:solidFill>
            <a:srgbClr val="2F5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Converti PDF in PNG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 PDF diventano immagini ingrandite per leggibilità.</a:t>
            </a:r>
            <a:endParaRPr lang="en-US" sz="1400" dirty="0"/>
          </a:p>
        </p:txBody>
      </p:sp>
      <p:sp>
        <p:nvSpPr>
          <p:cNvPr id="7" name="Etichetta nodo 1"/>
          <p:cNvSpPr txBox="1"/>
          <p:nvPr/>
        </p:nvSpPr>
        <p:spPr>
          <a:xfrm>
            <a:off x="777240" y="3090672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Medex</a:t>
            </a:r>
            <a:endParaRPr lang="en-US" sz="1200" dirty="0"/>
          </a:p>
        </p:txBody>
      </p:sp>
      <p:sp>
        <p:nvSpPr>
          <p:cNvPr id="8" name="Scheda nodo 2"/>
          <p:cNvSpPr/>
          <p:nvPr/>
        </p:nvSpPr>
        <p:spPr>
          <a:xfrm>
            <a:off x="4315968" y="146304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EAF2F1"/>
          </a:solidFill>
          <a:ln/>
        </p:spPr>
      </p:sp>
      <p:sp>
        <p:nvSpPr>
          <p:cNvPr id="9" name="Numero nodo 2"/>
          <p:cNvSpPr txBox="1"/>
          <p:nvPr/>
        </p:nvSpPr>
        <p:spPr>
          <a:xfrm>
            <a:off x="4544568" y="1691640"/>
            <a:ext cx="457200" cy="457200"/>
          </a:xfrm>
          <a:prstGeom prst="ellipse">
            <a:avLst/>
          </a:prstGeom>
          <a:solidFill>
            <a:srgbClr val="2F5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184648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Crea finestre di pagine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544568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14 finestre sovrapposte nel caso 6: ogni pagina compare due volte.</a:t>
            </a:r>
            <a:endParaRPr lang="en-US" sz="1400" dirty="0"/>
          </a:p>
        </p:txBody>
      </p:sp>
      <p:sp>
        <p:nvSpPr>
          <p:cNvPr id="12" name="Etichetta nodo 2"/>
          <p:cNvSpPr txBox="1"/>
          <p:nvPr/>
        </p:nvSpPr>
        <p:spPr>
          <a:xfrm>
            <a:off x="4544568" y="3090672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Medex</a:t>
            </a:r>
            <a:endParaRPr lang="en-US" sz="1200" dirty="0"/>
          </a:p>
        </p:txBody>
      </p:sp>
      <p:sp>
        <p:nvSpPr>
          <p:cNvPr id="13" name="Scheda nodo 3"/>
          <p:cNvSpPr/>
          <p:nvPr/>
        </p:nvSpPr>
        <p:spPr>
          <a:xfrm>
            <a:off x="8083296" y="146304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EAF2F1"/>
          </a:solidFill>
          <a:ln/>
        </p:spPr>
      </p:sp>
      <p:sp>
        <p:nvSpPr>
          <p:cNvPr id="14" name="Numero nodo 3"/>
          <p:cNvSpPr txBox="1"/>
          <p:nvPr/>
        </p:nvSpPr>
        <p:spPr>
          <a:xfrm>
            <a:off x="8311896" y="1691640"/>
            <a:ext cx="457200" cy="457200"/>
          </a:xfrm>
          <a:prstGeom prst="ellipse">
            <a:avLst/>
          </a:prstGeom>
          <a:solidFill>
            <a:srgbClr val="2F5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951976" y="16459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Page Classifier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233172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Per ogni finestra assegna ruolo (IOL, JOB, UNKNOWN) ed etichetta di contenuto.</a:t>
            </a:r>
            <a:endParaRPr lang="en-US" sz="1400" dirty="0"/>
          </a:p>
        </p:txBody>
      </p:sp>
      <p:sp>
        <p:nvSpPr>
          <p:cNvPr id="17" name="Etichetta nodo 3"/>
          <p:cNvSpPr txBox="1"/>
          <p:nvPr/>
        </p:nvSpPr>
        <p:spPr>
          <a:xfrm>
            <a:off x="8311896" y="3090672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VLM</a:t>
            </a:r>
            <a:endParaRPr lang="en-US" sz="1200" dirty="0"/>
          </a:p>
        </p:txBody>
      </p:sp>
      <p:sp>
        <p:nvSpPr>
          <p:cNvPr id="18" name="Scheda nodo 4"/>
          <p:cNvSpPr/>
          <p:nvPr/>
        </p:nvSpPr>
        <p:spPr>
          <a:xfrm>
            <a:off x="548640" y="37033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EAF2F1"/>
          </a:solidFill>
          <a:ln/>
        </p:spPr>
      </p:sp>
      <p:sp>
        <p:nvSpPr>
          <p:cNvPr id="19" name="Numero nodo 4"/>
          <p:cNvSpPr txBox="1"/>
          <p:nvPr/>
        </p:nvSpPr>
        <p:spPr>
          <a:xfrm>
            <a:off x="777240" y="3931920"/>
            <a:ext cx="457200" cy="457200"/>
          </a:xfrm>
          <a:prstGeom prst="ellipse">
            <a:avLst/>
          </a:prstGeom>
          <a:solidFill>
            <a:srgbClr val="2F5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Deduplica pagine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Collassa le finestre in 14 pagine uniche; i disaccordi restano negli avvisi.</a:t>
            </a:r>
            <a:endParaRPr lang="en-US" sz="1400" dirty="0"/>
          </a:p>
        </p:txBody>
      </p:sp>
      <p:sp>
        <p:nvSpPr>
          <p:cNvPr id="22" name="Etichetta nodo 4"/>
          <p:cNvSpPr txBox="1"/>
          <p:nvPr/>
        </p:nvSpPr>
        <p:spPr>
          <a:xfrm>
            <a:off x="777240" y="5330952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Pytool</a:t>
            </a:r>
            <a:endParaRPr lang="en-US" sz="1200" dirty="0"/>
          </a:p>
        </p:txBody>
      </p:sp>
      <p:sp>
        <p:nvSpPr>
          <p:cNvPr id="23" name="Scheda nodo 5"/>
          <p:cNvSpPr/>
          <p:nvPr/>
        </p:nvSpPr>
        <p:spPr>
          <a:xfrm>
            <a:off x="4315968" y="37033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EAF2F1"/>
          </a:solidFill>
          <a:ln/>
        </p:spPr>
      </p:sp>
      <p:sp>
        <p:nvSpPr>
          <p:cNvPr id="24" name="Numero nodo 5"/>
          <p:cNvSpPr txBox="1"/>
          <p:nvPr/>
        </p:nvSpPr>
        <p:spPr>
          <a:xfrm>
            <a:off x="4544568" y="3931920"/>
            <a:ext cx="457200" cy="457200"/>
          </a:xfrm>
          <a:prstGeom prst="ellipse">
            <a:avLst/>
          </a:prstGeom>
          <a:solidFill>
            <a:srgbClr val="2F5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5184648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Prepara e filtra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4544568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Array root di record pagina, poi tre filtri: 6 Station, 7 Measurement, 1 Density.</a:t>
            </a:r>
            <a:endParaRPr lang="en-US" sz="1400" dirty="0"/>
          </a:p>
        </p:txBody>
      </p:sp>
      <p:sp>
        <p:nvSpPr>
          <p:cNvPr id="27" name="Etichetta nodo 5"/>
          <p:cNvSpPr txBox="1"/>
          <p:nvPr/>
        </p:nvSpPr>
        <p:spPr>
          <a:xfrm>
            <a:off x="4544568" y="5330952"/>
            <a:ext cx="914400" cy="292608"/>
          </a:xfrm>
          <a:prstGeom prst="roundRect">
            <a:avLst>
              <a:gd name="adj" fmla="val 46875"/>
            </a:avLst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Pytool</a:t>
            </a:r>
            <a:endParaRPr lang="en-US" sz="1200" dirty="0"/>
          </a:p>
        </p:txBody>
      </p:sp>
      <p:sp>
        <p:nvSpPr>
          <p:cNvPr id="28" name="Scheda nodo 6"/>
          <p:cNvSpPr/>
          <p:nvPr/>
        </p:nvSpPr>
        <p:spPr>
          <a:xfrm>
            <a:off x="8083296" y="3703320"/>
            <a:ext cx="3566160" cy="2057400"/>
          </a:xfrm>
          <a:prstGeom prst="roundRect">
            <a:avLst>
              <a:gd name="adj" fmla="val 5333"/>
            </a:avLst>
          </a:prstGeom>
          <a:solidFill>
            <a:srgbClr val="EAF2F1"/>
          </a:solidFill>
          <a:ln/>
        </p:spPr>
      </p:sp>
      <p:sp>
        <p:nvSpPr>
          <p:cNvPr id="29" name="Numero nodo 6"/>
          <p:cNvSpPr txBox="1"/>
          <p:nvPr/>
        </p:nvSpPr>
        <p:spPr>
          <a:xfrm>
            <a:off x="8311896" y="3931920"/>
            <a:ext cx="457200" cy="457200"/>
          </a:xfrm>
          <a:prstGeom prst="ellipse">
            <a:avLst/>
          </a:prstGeom>
          <a:solidFill>
            <a:srgbClr val="2F5D6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951976" y="388620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Estrazione e consolidamento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8311896" y="457200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Iniezioni iterative per ramo, poi PREPARAZIONE X JSON e JSON CREATOR.</a:t>
            </a:r>
            <a:endParaRPr lang="en-US" sz="1400" dirty="0"/>
          </a:p>
        </p:txBody>
      </p:sp>
      <p:sp>
        <p:nvSpPr>
          <p:cNvPr id="32" name="Etichetta nodo 6"/>
          <p:cNvSpPr txBox="1"/>
          <p:nvPr/>
        </p:nvSpPr>
        <p:spPr>
          <a:xfrm>
            <a:off x="8311896" y="5330952"/>
            <a:ext cx="1371600" cy="292608"/>
          </a:xfrm>
          <a:prstGeom prst="roundRect">
            <a:avLst>
              <a:gd name="adj" fmla="val 46875"/>
            </a:avLst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VLM + Pytool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Tre sotto-piattaforme di Livello 2</a:t>
            </a:r>
            <a:endParaRPr lang="en-US" sz="3400" dirty="0"/>
          </a:p>
        </p:txBody>
      </p:sp>
      <p:sp>
        <p:nvSpPr>
          <p:cNvPr id="3" name="Scheda Classifier"/>
          <p:cNvSpPr/>
          <p:nvPr/>
        </p:nvSpPr>
        <p:spPr>
          <a:xfrm>
            <a:off x="548640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4" name="Icona Classifier"/>
          <p:cNvSpPr/>
          <p:nvPr/>
        </p:nvSpPr>
        <p:spPr>
          <a:xfrm>
            <a:off x="822960" y="1737360"/>
            <a:ext cx="685800" cy="6858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5" name="Image 0" descr="Icona Classifier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1929384"/>
            <a:ext cx="301752" cy="30175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91640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Classifier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Medex + VLM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dedicato su content2media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Il routing usa la label; document_role resta metadato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Mai dedurre il PDF dal prefisso chiave Medex: instabile tra run</a:t>
            </a:r>
            <a:endParaRPr lang="en-US" sz="1400" dirty="0"/>
          </a:p>
        </p:txBody>
      </p:sp>
      <p:sp>
        <p:nvSpPr>
          <p:cNvPr id="9" name="Scheda Station"/>
          <p:cNvSpPr/>
          <p:nvPr/>
        </p:nvSpPr>
        <p:spPr>
          <a:xfrm>
            <a:off x="4315968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10" name="Icona Station"/>
          <p:cNvSpPr/>
          <p:nvPr/>
        </p:nvSpPr>
        <p:spPr>
          <a:xfrm>
            <a:off x="4590288" y="1737360"/>
            <a:ext cx="685800" cy="6858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1" name="Image 1" descr="Icona Stati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2312" y="192938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458968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Station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4590288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Pytool + Medex + VLM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4590288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Prompt v5: niente default SME inventato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Array vuoto se la pagina è vuota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Restituisce IP, porta e scale (SO2 0–300, Temperatura fumi 0–100)</a:t>
            </a:r>
            <a:endParaRPr lang="en-US" sz="1400" dirty="0"/>
          </a:p>
        </p:txBody>
      </p:sp>
      <p:sp>
        <p:nvSpPr>
          <p:cNvPr id="15" name="Scheda Measurement"/>
          <p:cNvSpPr/>
          <p:nvPr/>
        </p:nvSpPr>
        <p:spPr>
          <a:xfrm>
            <a:off x="8083296" y="1463040"/>
            <a:ext cx="3566160" cy="452628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16" name="Icona Measurement"/>
          <p:cNvSpPr/>
          <p:nvPr/>
        </p:nvSpPr>
        <p:spPr>
          <a:xfrm>
            <a:off x="8357616" y="1737360"/>
            <a:ext cx="685800" cy="6858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7" name="Image 2" descr="Icona Measuremen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1929384"/>
            <a:ext cx="301752" cy="30175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26296" y="1737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Measurement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8357616" y="26060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chemeClr val="accent3"/>
                </a:solidFill>
              </a:rPr>
              <a:t>3 VLM + 3 tagger + assemblatore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8357616" y="3017520"/>
            <a:ext cx="30632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Tre VLM in parallelo: misure e BISON (v4, con DATA_TYPE), bitinfo e nomi, stati TEXTON/TEXTOFF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Assemblatore per pagina: join sul nome, scarto di nomi vuoti e numerici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Coda di revisione per i conflitti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 cinque regole d’oro</a:t>
            </a:r>
            <a:endParaRPr lang="en-US" sz="3400" dirty="0"/>
          </a:p>
        </p:txBody>
      </p:sp>
      <p:sp>
        <p:nvSpPr>
          <p:cNvPr id="3" name="Riga regola 1"/>
          <p:cNvSpPr/>
          <p:nvPr/>
        </p:nvSpPr>
        <p:spPr>
          <a:xfrm>
            <a:off x="548640" y="1417320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EAF2F1"/>
          </a:solidFill>
          <a:ln/>
        </p:spPr>
      </p:sp>
      <p:sp>
        <p:nvSpPr>
          <p:cNvPr id="4" name="Numero regola 1"/>
          <p:cNvSpPr txBox="1"/>
          <p:nvPr/>
        </p:nvSpPr>
        <p:spPr>
          <a:xfrm>
            <a:off x="822960" y="1563624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417320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Join sul nome, mai su MEASUREID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943600" y="1417320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MEASUREID ha tre semantiche diverse (gruppi posizionali, chunk da 16, registri veri): come chiave corrompe tutto.</a:t>
            </a:r>
            <a:endParaRPr lang="en-US" sz="1400" dirty="0"/>
          </a:p>
        </p:txBody>
      </p:sp>
      <p:sp>
        <p:nvSpPr>
          <p:cNvPr id="7" name="Riga regola 2"/>
          <p:cNvSpPr/>
          <p:nvPr/>
        </p:nvSpPr>
        <p:spPr>
          <a:xfrm>
            <a:off x="548640" y="2386584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EAF2F1"/>
          </a:solidFill>
          <a:ln/>
        </p:spPr>
      </p:sp>
      <p:sp>
        <p:nvSpPr>
          <p:cNvPr id="8" name="Numero regola 2"/>
          <p:cNvSpPr txBox="1"/>
          <p:nvPr/>
        </p:nvSpPr>
        <p:spPr>
          <a:xfrm>
            <a:off x="822960" y="2532888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2386584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BIT dal ramo misure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0" y="2386584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Verificato 6 su 6 da coordinate colonna del PDF. Il BITNO del ramo bitinfo non lo sovrascrive: i disaccordi vanno in review.</a:t>
            </a:r>
            <a:endParaRPr lang="en-US" sz="1400" dirty="0"/>
          </a:p>
        </p:txBody>
      </p:sp>
      <p:sp>
        <p:nvSpPr>
          <p:cNvPr id="11" name="Riga regola 3"/>
          <p:cNvSpPr/>
          <p:nvPr/>
        </p:nvSpPr>
        <p:spPr>
          <a:xfrm>
            <a:off x="548640" y="3355848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EAF2F1"/>
          </a:solidFill>
          <a:ln/>
        </p:spPr>
      </p:sp>
      <p:sp>
        <p:nvSpPr>
          <p:cNvPr id="12" name="Numero regola 3"/>
          <p:cNvSpPr txBox="1"/>
          <p:nvPr/>
        </p:nvSpPr>
        <p:spPr>
          <a:xfrm>
            <a:off x="822960" y="3502152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3355848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Righe bianche = righe saltate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3355848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Riserve 420–424 e 428–430, filler numerici e TAG vuoti non generano misure fantasma.</a:t>
            </a:r>
            <a:endParaRPr lang="en-US" sz="1400" dirty="0"/>
          </a:p>
        </p:txBody>
      </p:sp>
      <p:sp>
        <p:nvSpPr>
          <p:cNvPr id="15" name="Riga regola 4"/>
          <p:cNvSpPr/>
          <p:nvPr/>
        </p:nvSpPr>
        <p:spPr>
          <a:xfrm>
            <a:off x="548640" y="4325112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EAF2F1"/>
          </a:solidFill>
          <a:ln/>
        </p:spPr>
      </p:sp>
      <p:sp>
        <p:nvSpPr>
          <p:cNvPr id="16" name="Numero regola 4"/>
          <p:cNvSpPr txBox="1"/>
          <p:nvPr/>
        </p:nvSpPr>
        <p:spPr>
          <a:xfrm>
            <a:off x="822960" y="4471416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600200" y="4325112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TEXTON e TEXTOFF derivati dal nome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325112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Nel PDF non esiste alcuna colonna di stato: convenzione valida, ma dato sintetico.</a:t>
            </a:r>
            <a:endParaRPr lang="en-US" sz="1400" dirty="0"/>
          </a:p>
        </p:txBody>
      </p:sp>
      <p:sp>
        <p:nvSpPr>
          <p:cNvPr id="19" name="Riga regola 5"/>
          <p:cNvSpPr/>
          <p:nvPr/>
        </p:nvSpPr>
        <p:spPr>
          <a:xfrm>
            <a:off x="548640" y="5294376"/>
            <a:ext cx="11091672" cy="841248"/>
          </a:xfrm>
          <a:prstGeom prst="roundRect">
            <a:avLst>
              <a:gd name="adj" fmla="val 13043"/>
            </a:avLst>
          </a:prstGeom>
          <a:solidFill>
            <a:srgbClr val="EAF2F1"/>
          </a:solidFill>
          <a:ln/>
        </p:spPr>
      </p:sp>
      <p:sp>
        <p:nvSpPr>
          <p:cNvPr id="20" name="Numero regola 5"/>
          <p:cNvSpPr txBox="1"/>
          <p:nvPr/>
        </p:nvSpPr>
        <p:spPr>
          <a:xfrm>
            <a:off x="822960" y="5440680"/>
            <a:ext cx="548640" cy="548640"/>
          </a:xfrm>
          <a:prstGeom prst="ellipse">
            <a:avLst/>
          </a:prstGeom>
          <a:solidFill>
            <a:srgbClr val="0E7C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1600200" y="5294376"/>
            <a:ext cx="4114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Il modello giusto per ogni scopo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0" y="5294376"/>
            <a:ext cx="54864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Leggero 3.6 solo per prove di plumbing, Qwen 3.8 per la qualità. Confronti validi solo a parità di modello.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Caso 6: i numeri verificati</a:t>
            </a:r>
            <a:endParaRPr lang="en-US" sz="3400" dirty="0"/>
          </a:p>
        </p:txBody>
      </p:sp>
      <p:sp>
        <p:nvSpPr>
          <p:cNvPr id="3" name="Statistica 14"/>
          <p:cNvSpPr/>
          <p:nvPr/>
        </p:nvSpPr>
        <p:spPr>
          <a:xfrm>
            <a:off x="548640" y="146304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EA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14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pagine uniche classificate</a:t>
            </a:r>
            <a:endParaRPr lang="en-US" sz="1400" dirty="0"/>
          </a:p>
        </p:txBody>
      </p:sp>
      <p:sp>
        <p:nvSpPr>
          <p:cNvPr id="6" name="Statistica 69"/>
          <p:cNvSpPr/>
          <p:nvPr/>
        </p:nvSpPr>
        <p:spPr>
          <a:xfrm>
            <a:off x="3063240" y="146304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EA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91840" y="15544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69</a:t>
            </a:r>
            <a:endParaRPr lang="en-US" sz="48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237744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variabili in stazione (Qwen 3.8)</a:t>
            </a:r>
            <a:endParaRPr lang="en-US" sz="1400" dirty="0"/>
          </a:p>
        </p:txBody>
      </p:sp>
      <p:sp>
        <p:nvSpPr>
          <p:cNvPr id="9" name="Statistica 22"/>
          <p:cNvSpPr/>
          <p:nvPr/>
        </p:nvSpPr>
        <p:spPr>
          <a:xfrm>
            <a:off x="548640" y="324612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EAF2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337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22</a:t>
            </a:r>
            <a:endParaRPr lang="en-US" sz="4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160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misure ADAS in uscita</a:t>
            </a:r>
            <a:endParaRPr lang="en-US" sz="1400" dirty="0"/>
          </a:p>
        </p:txBody>
      </p:sp>
      <p:sp>
        <p:nvSpPr>
          <p:cNvPr id="12" name="Statistica 60"/>
          <p:cNvSpPr/>
          <p:nvPr/>
        </p:nvSpPr>
        <p:spPr>
          <a:xfrm>
            <a:off x="3063240" y="3246120"/>
            <a:ext cx="2331720" cy="1600200"/>
          </a:xfrm>
          <a:prstGeom prst="roundRect">
            <a:avLst>
              <a:gd name="adj" fmla="val 6857"/>
            </a:avLst>
          </a:prstGeom>
          <a:solidFill>
            <a:srgbClr val="EAF2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291840" y="33375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</a:rPr>
              <a:t>60</a:t>
            </a:r>
            <a:endParaRPr lang="en-US" sz="48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16052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bitinfo ADAS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577840" y="1463040"/>
          <a:ext cx="6062472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Fascia conferme caso 6"/>
          <p:cNvSpPr/>
          <p:nvPr/>
        </p:nvSpPr>
        <p:spPr>
          <a:xfrm>
            <a:off x="548640" y="507492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822960" y="50749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bg1"/>
                </a:solidFill>
              </a:rPr>
              <a:t>Stazione Sistema Analisi SO2 su 10.100.50.95, porta 511, scale SO2 0–300 collegate.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Pagina 2 completa 30 su 30 con BIT da colonna · nessun riempitivo sulle riserve · validazione Pydantic superata.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Caso 7: la generalizzazione regge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521208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126480" y="1463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3"/>
                </a:solidFill>
              </a:rPr>
              <a:t>Cogenerazione · IP 172.16.1.31 · porta 511 · 42 bitinfo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6126480" y="18745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Trappole del documento superate</a:t>
            </a:r>
            <a:endParaRPr lang="en-US" sz="2000" dirty="0"/>
          </a:p>
        </p:txBody>
      </p:sp>
      <p:sp>
        <p:nvSpPr>
          <p:cNvPr id="6" name="Icona conferma 1"/>
          <p:cNvSpPr/>
          <p:nvPr/>
        </p:nvSpPr>
        <p:spPr>
          <a:xfrm>
            <a:off x="6126480" y="2468880"/>
            <a:ext cx="502920" cy="502920"/>
          </a:xfrm>
          <a:prstGeom prst="ellipse">
            <a:avLst/>
          </a:prstGeom>
          <a:solidFill>
            <a:srgbClr val="4E8F5B"/>
          </a:solidFill>
          <a:ln/>
        </p:spPr>
      </p:sp>
      <p:pic>
        <p:nvPicPr>
          <p:cNvPr id="7" name="Image 0" descr="Icona conferma 1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298" y="2609698"/>
            <a:ext cx="221285" cy="221285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858000" y="242316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Bit wrap su REG 1 con 16 righe, senza aprire registri spuri</a:t>
            </a:r>
            <a:endParaRPr lang="en-US" sz="1600" dirty="0"/>
          </a:p>
        </p:txBody>
      </p:sp>
      <p:sp>
        <p:nvSpPr>
          <p:cNvPr id="9" name="Icona conferma 2"/>
          <p:cNvSpPr/>
          <p:nvPr/>
        </p:nvSpPr>
        <p:spPr>
          <a:xfrm>
            <a:off x="6126480" y="3246120"/>
            <a:ext cx="502920" cy="502920"/>
          </a:xfrm>
          <a:prstGeom prst="ellipse">
            <a:avLst/>
          </a:prstGeom>
          <a:solidFill>
            <a:srgbClr val="4E8F5B"/>
          </a:solidFill>
          <a:ln/>
        </p:spPr>
      </p:sp>
      <p:pic>
        <p:nvPicPr>
          <p:cNvPr id="10" name="Image 1" descr="Icona conferma 2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298" y="3386938"/>
            <a:ext cx="221285" cy="221285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858000" y="320040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Righe bianche in mezzo ai gruppi saltate, carry-over intatto</a:t>
            </a:r>
            <a:endParaRPr lang="en-US" sz="1600" dirty="0"/>
          </a:p>
        </p:txBody>
      </p:sp>
      <p:sp>
        <p:nvSpPr>
          <p:cNvPr id="12" name="Icona conferma 3"/>
          <p:cNvSpPr/>
          <p:nvPr/>
        </p:nvSpPr>
        <p:spPr>
          <a:xfrm>
            <a:off x="6126480" y="4023360"/>
            <a:ext cx="502920" cy="502920"/>
          </a:xfrm>
          <a:prstGeom prst="ellipse">
            <a:avLst/>
          </a:prstGeom>
          <a:solidFill>
            <a:srgbClr val="4E8F5B"/>
          </a:solidFill>
          <a:ln/>
        </p:spPr>
      </p:sp>
      <p:pic>
        <p:nvPicPr>
          <p:cNvPr id="13" name="Image 2" descr="Icona conferma 3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7298" y="4164178"/>
            <a:ext cx="221285" cy="221285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6858000" y="3977640"/>
            <a:ext cx="4754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Comandi e stimate completi, linkage intatto</a:t>
            </a:r>
            <a:endParaRPr lang="en-US" sz="1600" dirty="0"/>
          </a:p>
        </p:txBody>
      </p:sp>
      <p:sp>
        <p:nvSpPr>
          <p:cNvPr id="15" name="Callout variabili perse"/>
          <p:cNvSpPr txBox="1"/>
          <p:nvPr/>
        </p:nvSpPr>
        <p:spPr>
          <a:xfrm>
            <a:off x="548640" y="5120640"/>
            <a:ext cx="11091672" cy="1097280"/>
          </a:xfrm>
          <a:prstGeom prst="roundRect">
            <a:avLst>
              <a:gd name="adj" fmla="val 10000"/>
            </a:avLst>
          </a:prstGeom>
          <a:solidFill>
            <a:schemeClr val="accent2"/>
          </a:solidFill>
          <a:ln/>
        </p:spPr>
        <p:txBody>
          <a:bodyPr wrap="square" lIns="279400" tIns="279400" rIns="279400" bIns="279400" rtlCol="0" anchor="ctr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5 variabili perse, con warning esplicito</a:t>
            </a:r>
            <a:endParaRPr lang="en-US" sz="1800" dirty="0"/>
          </a:p>
          <a:p>
            <a:pPr algn="l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Carry-over oltre il confine pagina, non risolvibile in una LV2 per-pagina: gap noto e visibile, mai silenzioso. Punto aperto: misure INT col formato di default senza data_type.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Legacy contro nuovo, onestamente</a:t>
            </a:r>
            <a:endParaRPr lang="en-US" sz="3400" dirty="0"/>
          </a:p>
        </p:txBody>
      </p:sp>
      <p:sp>
        <p:nvSpPr>
          <p:cNvPr id="3" name="Scheda confronto 1"/>
          <p:cNvSpPr/>
          <p:nvPr/>
        </p:nvSpPr>
        <p:spPr>
          <a:xfrm>
            <a:off x="548640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4E8F5B">
              <a:alpha val="12000"/>
            </a:srgbClr>
          </a:solidFill>
          <a:ln/>
        </p:spPr>
      </p:sp>
      <p:sp>
        <p:nvSpPr>
          <p:cNvPr id="4" name="Simbolo confronto 1"/>
          <p:cNvSpPr txBox="1"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4E8F5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+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645920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Sopra il legacy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Righe fantasma mai inventate: il ground truth legacy ha 12 bitinfo su righe bianche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BIT da colonna: qui il PDF dà ragione a noi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Niente default silenziosi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ADAS strutturalmente valido, con IP veri</a:t>
            </a:r>
            <a:endParaRPr lang="en-US" sz="1400" dirty="0"/>
          </a:p>
        </p:txBody>
      </p:sp>
      <p:sp>
        <p:nvSpPr>
          <p:cNvPr id="7" name="Scheda confronto 2"/>
          <p:cNvSpPr/>
          <p:nvPr/>
        </p:nvSpPr>
        <p:spPr>
          <a:xfrm>
            <a:off x="4315968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E8A317">
              <a:alpha val="12000"/>
            </a:srgbClr>
          </a:solidFill>
          <a:ln/>
        </p:spPr>
      </p:sp>
      <p:sp>
        <p:nvSpPr>
          <p:cNvPr id="8" name="Simbolo confronto 2"/>
          <p:cNvSpPr txBox="1"/>
          <p:nvPr/>
        </p:nvSpPr>
        <p:spPr>
          <a:xfrm>
            <a:off x="4590288" y="1737360"/>
            <a:ext cx="640080" cy="64008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=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5413248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Pari, con riserve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90288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TEXTON: nessuno li legge; il ground truth ha più righe ma con errori propri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Nomi stazione: la 3.8 li trova, il leggero ripiega su SME</a:t>
            </a:r>
            <a:endParaRPr lang="en-US" sz="1400" dirty="0"/>
          </a:p>
        </p:txBody>
      </p:sp>
      <p:sp>
        <p:nvSpPr>
          <p:cNvPr id="11" name="Scheda confronto 3"/>
          <p:cNvSpPr/>
          <p:nvPr/>
        </p:nvSpPr>
        <p:spPr>
          <a:xfrm>
            <a:off x="8083296" y="1463040"/>
            <a:ext cx="3566160" cy="4572000"/>
          </a:xfrm>
          <a:prstGeom prst="roundRect">
            <a:avLst>
              <a:gd name="adj" fmla="val 3077"/>
            </a:avLst>
          </a:prstGeom>
          <a:solidFill>
            <a:srgbClr val="C0503A">
              <a:alpha val="12000"/>
            </a:srgbClr>
          </a:solidFill>
          <a:ln/>
        </p:spPr>
      </p:sp>
      <p:sp>
        <p:nvSpPr>
          <p:cNvPr id="12" name="Simbolo confronto 3"/>
          <p:cNvSpPr txBox="1"/>
          <p:nvPr/>
        </p:nvSpPr>
        <p:spPr>
          <a:xfrm>
            <a:off x="8357616" y="1737360"/>
            <a:ext cx="640080" cy="640080"/>
          </a:xfrm>
          <a:prstGeom prst="ellipse">
            <a:avLst/>
          </a:prstGeom>
          <a:solidFill>
            <a:srgbClr val="C0503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−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9180576" y="17373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Sotto: da dichiarare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57616" y="2651760"/>
            <a:ext cx="30632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Linearizzazione BISON: emettiamo il default in attesa di specifiche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UNITS e limiti: recuperabili dalla Tabella JOB, lavoro nostro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Campione ancora di due sole coppie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Tre decisioni che spettano al cliente</a:t>
            </a:r>
            <a:endParaRPr lang="en-US" sz="3400" dirty="0"/>
          </a:p>
        </p:txBody>
      </p:sp>
      <p:sp>
        <p:nvSpPr>
          <p:cNvPr id="3" name="Scheda decisione 1"/>
          <p:cNvSpPr/>
          <p:nvPr/>
        </p:nvSpPr>
        <p:spPr>
          <a:xfrm>
            <a:off x="548640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4" name="Numero decisione 1"/>
          <p:cNvSpPr txBox="1"/>
          <p:nvPr/>
        </p:nvSpPr>
        <p:spPr>
          <a:xfrm>
            <a:off x="868680" y="1874520"/>
            <a:ext cx="822960" cy="82296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Zeri iniziali degli indirizzi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40233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Come trattare gli zeri iniziali degli indirizzi nei dati emessi.</a:t>
            </a:r>
            <a:endParaRPr lang="en-US" sz="1600" dirty="0"/>
          </a:p>
        </p:txBody>
      </p:sp>
      <p:sp>
        <p:nvSpPr>
          <p:cNvPr id="7" name="Scheda decisione 2"/>
          <p:cNvSpPr/>
          <p:nvPr/>
        </p:nvSpPr>
        <p:spPr>
          <a:xfrm>
            <a:off x="4315968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8" name="Numero decisione 2"/>
          <p:cNvSpPr txBox="1"/>
          <p:nvPr/>
        </p:nvSpPr>
        <p:spPr>
          <a:xfrm>
            <a:off x="4636008" y="1874520"/>
            <a:ext cx="822960" cy="82296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2</a:t>
            </a:r>
            <a:endParaRPr lang="en-US" sz="3200" dirty="0"/>
          </a:p>
        </p:txBody>
      </p:sp>
      <p:sp>
        <p:nvSpPr>
          <p:cNvPr id="9" name="Text 7"/>
          <p:cNvSpPr txBox="1"/>
          <p:nvPr/>
        </p:nvSpPr>
        <p:spPr>
          <a:xfrm>
            <a:off x="4636008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Specifiche BISON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636008" y="40233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Servono per la linearizzazione: oggi emettiamo il default, il legacy la eseguiva.</a:t>
            </a:r>
            <a:endParaRPr lang="en-US" sz="1600" dirty="0"/>
          </a:p>
        </p:txBody>
      </p:sp>
      <p:sp>
        <p:nvSpPr>
          <p:cNvPr id="11" name="Scheda decisione 3"/>
          <p:cNvSpPr/>
          <p:nvPr/>
        </p:nvSpPr>
        <p:spPr>
          <a:xfrm>
            <a:off x="8083296" y="1554480"/>
            <a:ext cx="3566160" cy="4206240"/>
          </a:xfrm>
          <a:prstGeom prst="roundRect">
            <a:avLst>
              <a:gd name="adj" fmla="val 3077"/>
            </a:avLst>
          </a:prstGeom>
          <a:solidFill>
            <a:srgbClr val="EAF2F1"/>
          </a:solidFill>
          <a:ln/>
        </p:spPr>
      </p:sp>
      <p:sp>
        <p:nvSpPr>
          <p:cNvPr id="12" name="Numero decisione 3"/>
          <p:cNvSpPr txBox="1"/>
          <p:nvPr/>
        </p:nvSpPr>
        <p:spPr>
          <a:xfrm>
            <a:off x="8403336" y="1874520"/>
            <a:ext cx="822960" cy="82296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3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8403336" y="2971800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Regola sui nomi prefissati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403336" y="40233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Serve una regola esplicita per i nomi che portano un prefisso.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Punti aperti e prossimi passi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Punti aperti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03120"/>
            <a:ext cx="56692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Scala TF non collegata (tag contro nome esteso)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Limiti JOB da collegare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TEXTON parziali sul blocco REG 3 del caso 6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Formato delle INT senza data_type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Carry-over oltre il confine pagina</a:t>
            </a:r>
            <a:endParaRPr lang="en-US" sz="18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BISON e linearizzazione dal cliente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766560" y="1463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2"/>
                </a:solidFill>
              </a:rPr>
              <a:t>Prossimi passi</a:t>
            </a:r>
            <a:endParaRPr lang="en-US" sz="2400" dirty="0"/>
          </a:p>
        </p:txBody>
      </p:sp>
      <p:sp>
        <p:nvSpPr>
          <p:cNvPr id="6" name="Scheda passo 1"/>
          <p:cNvSpPr/>
          <p:nvPr/>
        </p:nvSpPr>
        <p:spPr>
          <a:xfrm>
            <a:off x="6766560" y="2103120"/>
            <a:ext cx="4873752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</p:spPr>
      </p:sp>
      <p:sp>
        <p:nvSpPr>
          <p:cNvPr id="7" name="Numero passo 1"/>
          <p:cNvSpPr txBox="1"/>
          <p:nvPr/>
        </p:nvSpPr>
        <p:spPr>
          <a:xfrm>
            <a:off x="7040880" y="2377440"/>
            <a:ext cx="594360" cy="59436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863840" y="21031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Terza coppia mai vista</a:t>
            </a:r>
            <a:endParaRPr lang="en-US" sz="2000" dirty="0"/>
          </a:p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per provare la generalizzazione</a:t>
            </a:r>
            <a:endParaRPr lang="en-US" sz="2000" dirty="0"/>
          </a:p>
        </p:txBody>
      </p:sp>
      <p:sp>
        <p:nvSpPr>
          <p:cNvPr id="9" name="Scheda passo 2"/>
          <p:cNvSpPr/>
          <p:nvPr/>
        </p:nvSpPr>
        <p:spPr>
          <a:xfrm>
            <a:off x="6766560" y="3474720"/>
            <a:ext cx="4873752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</p:spPr>
      </p:sp>
      <p:sp>
        <p:nvSpPr>
          <p:cNvPr id="10" name="Numero passo 2"/>
          <p:cNvSpPr txBox="1"/>
          <p:nvPr/>
        </p:nvSpPr>
        <p:spPr>
          <a:xfrm>
            <a:off x="7040880" y="3749040"/>
            <a:ext cx="594360" cy="59436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863840" y="34747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Collaudo</a:t>
            </a:r>
            <a:endParaRPr lang="en-US" sz="2000" dirty="0"/>
          </a:p>
        </p:txBody>
      </p:sp>
      <p:sp>
        <p:nvSpPr>
          <p:cNvPr id="12" name="Scheda passo 3"/>
          <p:cNvSpPr/>
          <p:nvPr/>
        </p:nvSpPr>
        <p:spPr>
          <a:xfrm>
            <a:off x="6766560" y="4846320"/>
            <a:ext cx="4873752" cy="1143000"/>
          </a:xfrm>
          <a:prstGeom prst="roundRect">
            <a:avLst>
              <a:gd name="adj" fmla="val 9600"/>
            </a:avLst>
          </a:prstGeom>
          <a:solidFill>
            <a:schemeClr val="accent3"/>
          </a:solidFill>
          <a:ln/>
        </p:spPr>
      </p:sp>
      <p:sp>
        <p:nvSpPr>
          <p:cNvPr id="13" name="Numero passo 3"/>
          <p:cNvSpPr txBox="1"/>
          <p:nvPr/>
        </p:nvSpPr>
        <p:spPr>
          <a:xfrm>
            <a:off x="7040880" y="5120640"/>
            <a:ext cx="594360" cy="594360"/>
          </a:xfrm>
          <a:prstGeom prst="ellipse">
            <a:avLst/>
          </a:prstGeom>
          <a:solidFill>
            <a:srgbClr val="E8A317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846320"/>
            <a:ext cx="3657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Cliente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Glossario minimo</a:t>
            </a:r>
            <a:endParaRPr lang="en-US" sz="3400" dirty="0"/>
          </a:p>
        </p:txBody>
      </p:sp>
      <p:sp>
        <p:nvSpPr>
          <p:cNvPr id="3" name="Scheda glossario 1"/>
          <p:cNvSpPr/>
          <p:nvPr/>
        </p:nvSpPr>
        <p:spPr>
          <a:xfrm>
            <a:off x="548640" y="1463040"/>
            <a:ext cx="5458968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4630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Edge numero N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51760" y="14630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Filo tra nodi, con numero locale al canvas: da ricontrollare dopo ogni ricablaggio. Può portare condizioni spurie che lo bloccano in silenzio.</a:t>
            </a:r>
            <a:endParaRPr lang="en-US" sz="1400" dirty="0"/>
          </a:p>
        </p:txBody>
      </p:sp>
      <p:sp>
        <p:nvSpPr>
          <p:cNvPr id="6" name="Scheda glossario 2"/>
          <p:cNvSpPr/>
          <p:nvPr/>
        </p:nvSpPr>
        <p:spPr>
          <a:xfrm>
            <a:off x="6181344" y="1463040"/>
            <a:ext cx="5458968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409944" y="14630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Edge con indice tra parentesi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284464" y="14630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testuale o immagine di un altro nodo.</a:t>
            </a:r>
            <a:endParaRPr lang="en-US" sz="1400" dirty="0"/>
          </a:p>
        </p:txBody>
      </p:sp>
      <p:sp>
        <p:nvSpPr>
          <p:cNvPr id="9" name="Scheda glossario 3"/>
          <p:cNvSpPr/>
          <p:nvPr/>
        </p:nvSpPr>
        <p:spPr>
          <a:xfrm>
            <a:off x="548640" y="3063240"/>
            <a:ext cx="5458968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" y="30632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Question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2651760" y="3063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Record pagina dell’iterazione corrente.</a:t>
            </a:r>
            <a:endParaRPr lang="en-US" sz="1400" dirty="0"/>
          </a:p>
        </p:txBody>
      </p:sp>
      <p:sp>
        <p:nvSpPr>
          <p:cNvPr id="12" name="Scheda glossario 4"/>
          <p:cNvSpPr/>
          <p:nvPr/>
        </p:nvSpPr>
        <p:spPr>
          <a:xfrm>
            <a:off x="6181344" y="3063240"/>
            <a:ext cx="5458968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409944" y="30632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Envelope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8284464" y="30632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Output dei tagger con ramo, pagina e payload: ogni dato porta la provenienza.</a:t>
            </a:r>
            <a:endParaRPr lang="en-US" sz="1400" dirty="0"/>
          </a:p>
        </p:txBody>
      </p:sp>
      <p:sp>
        <p:nvSpPr>
          <p:cNvPr id="15" name="Scheda glossario 5"/>
          <p:cNvSpPr/>
          <p:nvPr/>
        </p:nvSpPr>
        <p:spPr>
          <a:xfrm>
            <a:off x="548640" y="4663440"/>
            <a:ext cx="5458968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6634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Fixture observed / expected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2651760" y="46634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Observed: output runtime sanitizzato. Expected: derivato. Un observed con review_required a true non è un ground truth.</a:t>
            </a:r>
            <a:endParaRPr lang="en-US" sz="1400" dirty="0"/>
          </a:p>
        </p:txBody>
      </p:sp>
      <p:sp>
        <p:nvSpPr>
          <p:cNvPr id="18" name="Scheda glossario 6"/>
          <p:cNvSpPr/>
          <p:nvPr/>
        </p:nvSpPr>
        <p:spPr>
          <a:xfrm>
            <a:off x="6181344" y="4663440"/>
            <a:ext cx="5458968" cy="1417320"/>
          </a:xfrm>
          <a:prstGeom prst="roundRect">
            <a:avLst>
              <a:gd name="adj" fmla="val 7742"/>
            </a:avLst>
          </a:prstGeom>
          <a:solidFill>
            <a:srgbClr val="EAF2F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9944" y="4663440"/>
            <a:ext cx="1783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Leggero 3.6 / Qwen 3.8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284464" y="4663440"/>
            <a:ext cx="32004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Leggero 3.6: solo plumbing. Qwen 3.8: qualità.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19088"/>
            <a:ext cx="66751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OL JOB Tecnico">
  <a:themeElements>
    <a:clrScheme name="IOL JOB Tecnico">
      <a:dk1>
        <a:srgbClr val="13222C"/>
      </a:dk1>
      <a:lt1>
        <a:srgbClr val="FFFFFF"/>
      </a:lt1>
      <a:dk2>
        <a:srgbClr val="0B3C49"/>
      </a:dk2>
      <a:lt2>
        <a:srgbClr val="EAF2F1"/>
      </a:lt2>
      <a:accent1>
        <a:srgbClr val="0E7C7B"/>
      </a:accent1>
      <a:accent2>
        <a:srgbClr val="E8A317"/>
      </a:accent2>
      <a:accent3>
        <a:srgbClr val="2F5D6B"/>
      </a:accent3>
      <a:accent4>
        <a:srgbClr val="7DB8B0"/>
      </a:accent4>
      <a:accent5>
        <a:srgbClr val="C0503A"/>
      </a:accent5>
      <a:accent6>
        <a:srgbClr val="4E8F5B"/>
      </a:accent6>
      <a:hlink>
        <a:srgbClr val="0E7C7B"/>
      </a:hlink>
      <a:folHlink>
        <a:srgbClr val="2F5D6B"/>
      </a:folHlink>
    </a:clrScheme>
    <a:fontScheme name="IOL JOB Tecnico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Double PDF IOL+JOB</dc:title>
  <dc:subject>PptxGenJS Presentation</dc:subject>
  <dc:creator>PptxGenJS</dc:creator>
  <cp:lastModifiedBy>PptxGenJS</cp:lastModifiedBy>
  <cp:revision>1</cp:revision>
  <dcterms:created xsi:type="dcterms:W3CDTF">2026-10-05T14:24:33Z</dcterms:created>
  <dcterms:modified xsi:type="dcterms:W3CDTF">2026-10-05T14:24:33Z</dcterms:modified>
</cp:coreProperties>
</file>